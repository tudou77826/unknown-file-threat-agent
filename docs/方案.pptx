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5" r:id="rId2"/>
    <p:sldId id="256" r:id="rId3"/>
    <p:sldId id="264" r:id="rId4"/>
    <p:sldId id="257" r:id="rId5"/>
    <p:sldId id="268" r:id="rId6"/>
    <p:sldId id="258" r:id="rId7"/>
    <p:sldId id="259" r:id="rId8"/>
    <p:sldId id="261" r:id="rId9"/>
    <p:sldId id="260" r:id="rId10"/>
    <p:sldId id="262" r:id="rId11"/>
    <p:sldId id="263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A18ED-F3F7-4112-B688-A0EE1AA3E6E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F2AAD-17F4-428C-8BB7-2F0652E851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7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041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388D-BD43-C61A-978F-4805E8B3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4FD3BC-05F6-F42A-2AC3-6049972E8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CA63B1-319E-689D-D9CE-AB7A80E92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A39D0B-81C5-7D5F-2627-82339F01F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388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CEB8C-3412-E9A9-354A-8303E090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D2968C-C4CE-6B11-B86C-7A296509F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1AE58E-9CDE-B175-3484-97171EABA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4F0C25-F833-D3EC-75E2-16A0627F1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974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74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16A2-9544-534E-C3D5-E2B32FCAA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36A51F-F7FC-E2AB-2A6B-54EB92496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F89370-559F-90C6-D74C-CD20E15F2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FAA3F2-29C1-076E-0091-F8E774528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449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5FBB0-ABFF-0C80-89A5-AD3B6716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9FA0AB-4765-C5BD-3D46-A623E4A3C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07033F-26E9-7FE5-CBA5-0981FB235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00A6E-95B7-2467-50A9-B04173501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075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CFBC-13D7-2A49-6895-E93D385C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C61687-8088-DE60-85FA-5639FD282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2F6AAD-2E30-B979-97C6-3513C56E8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12A3E7-AA38-9AB2-A476-74BE4FDDB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95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4D27-CC54-E2B4-8899-19AAB839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2F72E6-A3E6-0ABD-173F-1967E784A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72A8A1-BE49-3AFD-26A0-AA5ADA55B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29B834-EACF-F69F-2B63-B1CB7B3C5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192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0DB2-84E9-5480-032F-72F01777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BB30B5-FB15-5FC6-B084-0865DB012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FA5009-9DC5-5F85-7BB3-7F29955FF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E136BA-6B58-2D38-4C21-338D21839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792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23709-3E0D-1BE4-B110-464EB91C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43C011-B627-4D87-ED16-59D77478E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36DBD3-1D5A-692A-C8B1-69476012A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3BB08-2FE6-0E14-A913-3BCB358E3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076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8F91-B065-12E3-A3BF-5951AB77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A6069B-443A-53DC-7BDD-8D5407B1C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17C3E1-A894-D7E9-979D-854508C37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A6D29-8343-3211-9915-7935CA5BE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2AAD-17F4-428C-8BB7-2F0652E8514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55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E95FBB-4096-D037-B51E-65D66D2EA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8C474D-42D9-C3BB-A1DC-5B691C9D6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BC1AAE-3343-33AA-52BF-0C205A22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1F5FA-DE2A-941F-F22B-9DF6954B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97647B-8D07-5A7C-BFF9-D7E1EF2A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63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E401E-2B10-8C2C-245B-5A80B46B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AE7C2-79DE-C4FF-7F45-949BE275C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E1165-3F91-B1F7-FE87-159154E9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82E89-B6B4-4196-FD37-031931D5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E83FC9-E261-0C90-18C3-4651CC86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73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5A590-04B1-A2C7-64E8-C6CDA7EB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89D2C3-3865-B5F1-6966-983688A77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FE5E3-F9AF-E2EB-C7D7-4662917D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FA8E3B-18BE-BC25-2C2E-F3442C652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B2650A-F82D-52BA-2B46-ADC9B46A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30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89005-5314-88D7-3AD9-A6A205E2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67187F-82DC-9F8E-2EB6-34E61627B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C096E2-CCA3-5CC9-D62D-14A0453CD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6F05CD-9AEF-F7DA-D3B0-8294F84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95443B-0196-5631-5139-411F7E63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2F0BD6-0EF3-503C-CD2A-59894260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29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80B02-495F-5B98-C2C6-ADFF0BD1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022ED7-0E26-DDFF-D693-4240667A2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BBE79F-771A-0BDF-A25C-B09411D90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D2D003-45D2-666E-ADC1-38894B79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616336-F949-DC39-6846-8DDEC2DC4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933F3C-E5ED-134E-8CBF-8527BC19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61E356-4713-E724-486C-1DEA93D6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A7BF66-CAB7-2907-EA5D-91E607D4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73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AC026-1E49-5862-3F02-1B9A14A5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C09EAE-62B4-FD24-843B-4357BF9C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A0407C-1F43-2EC1-0106-BF8A67EC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1E89C8-5A24-2887-038F-76A503E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72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48701B-A204-330E-EE8D-3E5334CD9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1FF563-02D3-8191-09C4-D30A23FA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9BB449-F8D5-468B-151C-26111AEF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93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93E32-8AC0-769F-ABC8-4A325C1C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767636-9A1E-3C09-2614-A98A04CC7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648DB7-25DA-29F0-6281-3C4A56524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5BC045-163C-33ED-F232-4910B019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8431E8-E31A-A956-9244-BEFD481C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4E7BFA-E56D-4352-A9F4-073CAAA1C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18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F4032-D454-42BA-3CE7-76DA5BA0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D0E623-7FD7-F593-F447-B0C898D01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110316-B346-85F3-8ED7-AEA2DE8A7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262749-6B8B-F6CF-77A4-A1737BE5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BBE97-7295-30C9-3D9C-11291F01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EB374A-FF2D-4770-0EA9-7305952D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73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B6F7C-CFCE-AC31-D78A-6BCCBF6B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4F4FDE-2AB0-4799-84C7-6CE6D6535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5A3642-47D3-D6C5-6AB8-75748863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2CB756-4242-242B-11DA-F54B6050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5AD114-C6DB-CB10-48C2-A08687BB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9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D77EC3-36A2-06E5-E3DD-FF2735AB6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C8BB19-A396-226A-1105-F0E3E76F4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F4253-6310-5976-DAB1-7FB0526A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B5556-BA99-A77D-0F2F-4FF9D009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58EF4-4C21-E4EA-0DE9-DF0DB128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24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F6B786-9794-5D01-5E43-0FB10459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D8B071-6E66-0C85-1E9C-2DDB6966D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3B7DA-12B2-7996-F4F3-433785BFB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B329D-A05E-4955-9473-3B4CA7D8B6E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17C82-D901-0CED-0C0F-A44F94758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82430-5338-9325-7F1A-EBA67DF75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83117-10F4-4385-9137-16028E572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76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7731-217F-E1B3-0C55-623A5AE6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6AEDC79-4803-BFE7-A403-90EEE4C9410D}"/>
              </a:ext>
            </a:extLst>
          </p:cNvPr>
          <p:cNvSpPr txBox="1"/>
          <p:nvPr/>
        </p:nvSpPr>
        <p:spPr>
          <a:xfrm>
            <a:off x="6569008" y="151179"/>
            <a:ext cx="561975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案件输入层</a:t>
            </a:r>
            <a:r>
              <a:rPr lang="zh-CN" altLang="zh-CN" sz="1200" dirty="0"/>
              <a:t>负责接收检测系统产生的未知文件告警。</a:t>
            </a:r>
            <a:endParaRPr lang="en-US" altLang="zh-CN" sz="1200" dirty="0"/>
          </a:p>
          <a:p>
            <a:r>
              <a:rPr lang="zh-CN" altLang="zh-CN" sz="1200" dirty="0"/>
              <a:t>不</a:t>
            </a:r>
            <a:r>
              <a:rPr lang="zh-CN" altLang="en-US" sz="1200" dirty="0"/>
              <a:t>需要</a:t>
            </a:r>
            <a:r>
              <a:rPr lang="zh-CN" altLang="zh-CN" sz="1200" dirty="0"/>
              <a:t>提前把所有日志都交给 Agent。</a:t>
            </a:r>
          </a:p>
          <a:p>
            <a:r>
              <a:rPr lang="zh-CN" altLang="zh-CN" sz="1200" dirty="0"/>
              <a:t>Agent 应该只知道：在哪台主机发现了什么文件；文件路径和 hash；什么时候发现；为什么触发告警。</a:t>
            </a:r>
          </a:p>
          <a:p>
            <a:endParaRPr lang="en-US" altLang="zh-CN" sz="1200" dirty="0"/>
          </a:p>
          <a:p>
            <a:r>
              <a:rPr lang="zh-CN" altLang="zh-CN" sz="1200" b="1" dirty="0"/>
              <a:t>案件状态层</a:t>
            </a:r>
            <a:r>
              <a:rPr lang="zh-CN" altLang="zh-CN" sz="1200" dirty="0"/>
              <a:t>是整个系统的“案件档案”。</a:t>
            </a:r>
            <a:r>
              <a:rPr lang="zh-CN" altLang="en-US" sz="1200" dirty="0"/>
              <a:t>主要保存：</a:t>
            </a:r>
            <a:endParaRPr lang="en-US" altLang="zh-CN" sz="1200" dirty="0"/>
          </a:p>
          <a:p>
            <a:r>
              <a:rPr lang="en-US" altLang="zh-CN" sz="1200" dirty="0"/>
              <a:t>Facts	</a:t>
            </a:r>
            <a:r>
              <a:rPr lang="zh-CN" altLang="zh-CN" sz="1200" dirty="0"/>
              <a:t>已确认事实</a:t>
            </a:r>
            <a:endParaRPr lang="en-US" altLang="zh-CN" sz="1200" dirty="0"/>
          </a:p>
          <a:p>
            <a:r>
              <a:rPr lang="en-US" altLang="zh-CN" sz="1200" dirty="0"/>
              <a:t>Findings	</a:t>
            </a:r>
            <a:r>
              <a:rPr lang="zh-CN" altLang="zh-CN" sz="1200" dirty="0"/>
              <a:t>行为发现</a:t>
            </a:r>
            <a:endParaRPr lang="en-US" altLang="zh-CN" sz="1200" dirty="0"/>
          </a:p>
          <a:p>
            <a:r>
              <a:rPr lang="zh-CN" altLang="zh-CN" sz="1200" dirty="0"/>
              <a:t>Hypotheses</a:t>
            </a:r>
            <a:r>
              <a:rPr lang="en-US" altLang="zh-CN" sz="1200" dirty="0"/>
              <a:t>	</a:t>
            </a:r>
            <a:r>
              <a:rPr lang="zh-CN" altLang="zh-CN" sz="1200" dirty="0"/>
              <a:t>调查假设</a:t>
            </a:r>
            <a:endParaRPr lang="en-US" altLang="zh-CN" sz="1200" dirty="0"/>
          </a:p>
          <a:p>
            <a:r>
              <a:rPr lang="zh-CN" altLang="zh-CN" sz="1200" dirty="0"/>
              <a:t>Evidence Gaps</a:t>
            </a:r>
            <a:r>
              <a:rPr lang="en-US" altLang="zh-CN" sz="1200" dirty="0"/>
              <a:t>	</a:t>
            </a:r>
            <a:r>
              <a:rPr lang="zh-CN" altLang="zh-CN" sz="1200" dirty="0"/>
              <a:t>证据缺口</a:t>
            </a:r>
            <a:endParaRPr lang="en-US" altLang="zh-CN" sz="1200" dirty="0"/>
          </a:p>
          <a:p>
            <a:r>
              <a:rPr lang="zh-CN" altLang="zh-CN" sz="1200" dirty="0"/>
              <a:t>Scope</a:t>
            </a:r>
            <a:r>
              <a:rPr lang="en-US" altLang="zh-CN" sz="1200" dirty="0"/>
              <a:t>	</a:t>
            </a:r>
            <a:r>
              <a:rPr lang="zh-CN" altLang="zh-CN" sz="1200" dirty="0"/>
              <a:t>调查范围</a:t>
            </a:r>
            <a:endParaRPr lang="en-US" altLang="zh-CN" sz="1200" dirty="0"/>
          </a:p>
          <a:p>
            <a:r>
              <a:rPr lang="zh-CN" altLang="zh-CN" sz="1200" dirty="0"/>
              <a:t>Budget</a:t>
            </a:r>
            <a:r>
              <a:rPr lang="en-US" altLang="zh-CN" sz="1200" dirty="0"/>
              <a:t>	</a:t>
            </a:r>
            <a:r>
              <a:rPr lang="zh-CN" altLang="zh-CN" sz="1200" dirty="0"/>
              <a:t>调查预算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zh-CN" sz="1200" b="1" dirty="0"/>
              <a:t>Agent 决策层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r>
              <a:rPr lang="zh-CN" altLang="en-US" sz="1200" dirty="0"/>
              <a:t>理解当前案件状态</a:t>
            </a:r>
          </a:p>
          <a:p>
            <a:r>
              <a:rPr lang="zh-CN" altLang="en-US" sz="1200" dirty="0"/>
              <a:t>区分</a:t>
            </a:r>
            <a:r>
              <a:rPr lang="en-US" altLang="zh-CN" sz="1200" dirty="0"/>
              <a:t>Fact</a:t>
            </a:r>
            <a:r>
              <a:rPr lang="zh-CN" altLang="en-US" sz="1200" dirty="0"/>
              <a:t>、</a:t>
            </a:r>
            <a:r>
              <a:rPr lang="en-US" altLang="zh-CN" sz="1200" dirty="0"/>
              <a:t>Finding</a:t>
            </a:r>
            <a:r>
              <a:rPr lang="zh-CN" altLang="en-US" sz="1200" dirty="0"/>
              <a:t>、</a:t>
            </a:r>
            <a:r>
              <a:rPr lang="en-US" altLang="zh-CN" sz="1200" dirty="0"/>
              <a:t>Claim</a:t>
            </a:r>
            <a:r>
              <a:rPr lang="zh-CN" altLang="en-US" sz="1200" dirty="0"/>
              <a:t>和未知事项</a:t>
            </a:r>
          </a:p>
          <a:p>
            <a:r>
              <a:rPr lang="zh-CN" altLang="en-US" sz="1200" dirty="0"/>
              <a:t>更新</a:t>
            </a:r>
            <a:r>
              <a:rPr lang="en-US" altLang="zh-CN" sz="1200" dirty="0"/>
              <a:t>Hypothesis</a:t>
            </a:r>
          </a:p>
          <a:p>
            <a:r>
              <a:rPr lang="zh-CN" altLang="en-US" sz="1200" dirty="0"/>
              <a:t>识别</a:t>
            </a:r>
            <a:r>
              <a:rPr lang="en-US" altLang="zh-CN" sz="1200" dirty="0" err="1"/>
              <a:t>EvidenceGap</a:t>
            </a:r>
            <a:endParaRPr lang="en-US" altLang="zh-CN" sz="1200" dirty="0"/>
          </a:p>
          <a:p>
            <a:r>
              <a:rPr lang="zh-CN" altLang="en-US" sz="1200" dirty="0"/>
              <a:t>判断最重要的调查问题</a:t>
            </a:r>
          </a:p>
          <a:p>
            <a:r>
              <a:rPr lang="zh-CN" altLang="en-US" sz="1200" dirty="0"/>
              <a:t>比较不同调查动作的价值</a:t>
            </a:r>
          </a:p>
          <a:p>
            <a:r>
              <a:rPr lang="zh-CN" altLang="en-US" sz="1200" dirty="0"/>
              <a:t>决定获取证据、分析证据、扩大范围还是申请结案</a:t>
            </a:r>
          </a:p>
          <a:p>
            <a:r>
              <a:rPr lang="zh-CN" altLang="en-US" sz="1200" dirty="0"/>
              <a:t>选择合适的</a:t>
            </a:r>
            <a:r>
              <a:rPr lang="en-US" altLang="zh-CN" sz="1200" dirty="0"/>
              <a:t>Tool</a:t>
            </a:r>
          </a:p>
          <a:p>
            <a:r>
              <a:rPr lang="zh-CN" altLang="en-US" sz="1200" dirty="0"/>
              <a:t>形成调用理由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b="1" dirty="0"/>
              <a:t>调查</a:t>
            </a:r>
            <a:r>
              <a:rPr lang="zh-CN" altLang="zh-CN" sz="1200" b="1" dirty="0"/>
              <a:t>知识层 Skill</a:t>
            </a:r>
            <a:r>
              <a:rPr lang="zh-CN" altLang="en-US" sz="1200" b="1" dirty="0"/>
              <a:t>：</a:t>
            </a:r>
            <a:r>
              <a:rPr lang="zh-CN" altLang="zh-CN" sz="1200" dirty="0"/>
              <a:t>Skill 保存人工威胁调查经验</a:t>
            </a:r>
            <a:endParaRPr lang="en-US" altLang="zh-CN" sz="1200" dirty="0"/>
          </a:p>
          <a:p>
            <a:r>
              <a:rPr lang="zh-CN" altLang="zh-CN" sz="1200" dirty="0"/>
              <a:t>例如：</a:t>
            </a:r>
          </a:p>
          <a:p>
            <a:pPr lvl="0"/>
            <a:r>
              <a:rPr lang="zh-CN" altLang="zh-CN" sz="1200" dirty="0"/>
              <a:t>未知文件应该先确认什么；</a:t>
            </a:r>
          </a:p>
          <a:p>
            <a:pPr lvl="0"/>
            <a:r>
              <a:rPr lang="zh-CN" altLang="zh-CN" sz="1200" dirty="0"/>
              <a:t>如何确认是否实际执行；</a:t>
            </a:r>
          </a:p>
          <a:p>
            <a:pPr lvl="0"/>
            <a:r>
              <a:rPr lang="zh-CN" altLang="zh-CN" sz="1200" dirty="0"/>
              <a:t>后门/C2需要哪些证据；</a:t>
            </a:r>
          </a:p>
          <a:p>
            <a:pPr lvl="0"/>
            <a:r>
              <a:rPr lang="zh-CN" altLang="zh-CN" sz="1200" dirty="0"/>
              <a:t>数据窃取需要哪些证据链；</a:t>
            </a:r>
          </a:p>
          <a:p>
            <a:pPr lvl="0"/>
            <a:r>
              <a:rPr lang="zh-CN" altLang="zh-CN" sz="1200" dirty="0"/>
              <a:t>勒索破坏需要哪些实际行为；</a:t>
            </a:r>
          </a:p>
          <a:p>
            <a:pPr lvl="0"/>
            <a:r>
              <a:rPr lang="zh-CN" altLang="zh-CN" sz="1200" dirty="0"/>
              <a:t>遇到证据不足时下一步查什么；</a:t>
            </a:r>
          </a:p>
          <a:p>
            <a:pPr lvl="0"/>
            <a:r>
              <a:rPr lang="zh-CN" altLang="zh-CN" sz="1200" dirty="0"/>
              <a:t>哪些情况下不能下结论。</a:t>
            </a:r>
          </a:p>
          <a:p>
            <a:r>
              <a:rPr lang="zh-CN" altLang="zh-CN" sz="1200" dirty="0"/>
              <a:t>Skill 指导 Agent 调用 Tool</a:t>
            </a:r>
          </a:p>
          <a:p>
            <a:endParaRPr lang="en-US" altLang="zh-CN" sz="1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805750-9420-9B93-113B-C0E59338B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69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29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C00DA45-94FE-19AC-D467-F81239CD6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68" y="164119"/>
            <a:ext cx="4385272" cy="654529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DE7C05-0AA7-90E5-2403-DBE25D053DC9}"/>
              </a:ext>
            </a:extLst>
          </p:cNvPr>
          <p:cNvSpPr txBox="1"/>
          <p:nvPr/>
        </p:nvSpPr>
        <p:spPr>
          <a:xfrm>
            <a:off x="6569008" y="243512"/>
            <a:ext cx="5622992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调查动作层：</a:t>
            </a:r>
            <a:r>
              <a:rPr lang="zh-CN" altLang="zh-CN" sz="1200" dirty="0"/>
              <a:t>将 Agent 的决策转换成结构化动作。定义</a:t>
            </a:r>
            <a:r>
              <a:rPr lang="zh-CN" altLang="en-US" sz="1200" dirty="0"/>
              <a:t>四</a:t>
            </a:r>
            <a:r>
              <a:rPr lang="zh-CN" altLang="zh-CN" sz="1200" dirty="0"/>
              <a:t>个 Schema：</a:t>
            </a:r>
            <a:endParaRPr lang="en-US" altLang="zh-CN" sz="1200" dirty="0"/>
          </a:p>
          <a:p>
            <a:r>
              <a:rPr lang="zh-CN" altLang="zh-CN" sz="1200" dirty="0"/>
              <a:t>EvidenceRequest</a:t>
            </a:r>
            <a:r>
              <a:rPr lang="zh-CN" altLang="en-US" sz="1200" dirty="0"/>
              <a:t>：</a:t>
            </a:r>
            <a:r>
              <a:rPr lang="zh-CN" altLang="zh-CN" sz="1200" dirty="0"/>
              <a:t>获取新 Evidence</a:t>
            </a:r>
            <a:endParaRPr lang="en-US" altLang="zh-CN" sz="1200" dirty="0"/>
          </a:p>
          <a:p>
            <a:r>
              <a:rPr lang="en-US" altLang="zh-CN" sz="1200" dirty="0" err="1"/>
              <a:t>AnalyseRequest</a:t>
            </a:r>
            <a:r>
              <a:rPr lang="zh-CN" altLang="en-US" sz="1200" dirty="0"/>
              <a:t>：</a:t>
            </a:r>
            <a:r>
              <a:rPr lang="zh-CN" altLang="zh-CN" sz="1200" dirty="0"/>
              <a:t>分析已有 Evidence</a:t>
            </a:r>
            <a:endParaRPr lang="en-US" altLang="zh-CN" sz="1200" dirty="0"/>
          </a:p>
          <a:p>
            <a:r>
              <a:rPr lang="zh-CN" altLang="zh-CN" sz="1200" dirty="0"/>
              <a:t>ScopeRequest</a:t>
            </a:r>
            <a:r>
              <a:rPr lang="zh-CN" altLang="en-US" sz="1200" dirty="0"/>
              <a:t>：</a:t>
            </a:r>
            <a:r>
              <a:rPr lang="zh-CN" altLang="zh-CN" sz="1200" dirty="0"/>
              <a:t>扩大主机、容器或时间范围。</a:t>
            </a:r>
          </a:p>
          <a:p>
            <a:r>
              <a:rPr lang="zh-CN" altLang="zh-CN" sz="1200" dirty="0"/>
              <a:t>FinishRequest</a:t>
            </a:r>
            <a:r>
              <a:rPr lang="zh-CN" altLang="en-US" sz="1200" dirty="0"/>
              <a:t>：</a:t>
            </a:r>
            <a:r>
              <a:rPr lang="zh-CN" altLang="zh-CN" sz="1200" dirty="0"/>
              <a:t>提交候选结论并申请结案。</a:t>
            </a:r>
            <a:endParaRPr lang="en-US" altLang="zh-CN" sz="1200" dirty="0"/>
          </a:p>
          <a:p>
            <a:r>
              <a:rPr lang="zh-CN" altLang="en-US" sz="1200" dirty="0"/>
              <a:t>输出</a:t>
            </a:r>
            <a:r>
              <a:rPr lang="en-US" altLang="zh-CN" sz="1200" dirty="0"/>
              <a:t>Schema</a:t>
            </a:r>
            <a:r>
              <a:rPr lang="zh-CN" altLang="en-US" sz="1200" dirty="0"/>
              <a:t>和执行协议</a:t>
            </a:r>
            <a:endParaRPr lang="zh-CN" altLang="zh-CN" sz="1200" dirty="0"/>
          </a:p>
          <a:p>
            <a:endParaRPr lang="en-US" altLang="zh-CN" sz="1200" b="1" dirty="0"/>
          </a:p>
          <a:p>
            <a:r>
              <a:rPr lang="zh-CN" altLang="zh-CN" sz="1200" b="1" dirty="0"/>
              <a:t>安全控制层</a:t>
            </a:r>
            <a:r>
              <a:rPr lang="zh-CN" altLang="en-US" sz="1200" b="1" dirty="0"/>
              <a:t>：</a:t>
            </a:r>
            <a:r>
              <a:rPr lang="zh-CN" altLang="zh-CN" sz="1200" dirty="0"/>
              <a:t>所有 Agent 动作在执行前必须经过检查：</a:t>
            </a:r>
          </a:p>
          <a:p>
            <a:pPr lvl="0"/>
            <a:r>
              <a:rPr lang="zh-CN" altLang="zh-CN" sz="1200" dirty="0"/>
              <a:t>Tool 是否在白名单；</a:t>
            </a:r>
          </a:p>
          <a:p>
            <a:pPr lvl="0"/>
            <a:r>
              <a:rPr lang="zh-CN" altLang="zh-CN" sz="1200" dirty="0"/>
              <a:t>参数是否正确；</a:t>
            </a:r>
          </a:p>
          <a:p>
            <a:pPr lvl="0"/>
            <a:r>
              <a:rPr lang="zh-CN" altLang="zh-CN" sz="1200" dirty="0"/>
              <a:t>是否为只读操作；</a:t>
            </a:r>
          </a:p>
          <a:p>
            <a:pPr lvl="0"/>
            <a:r>
              <a:rPr lang="zh-CN" altLang="zh-CN" sz="1200" dirty="0"/>
              <a:t>主机是否在调查范围内；</a:t>
            </a:r>
          </a:p>
          <a:p>
            <a:pPr lvl="0"/>
            <a:r>
              <a:rPr lang="zh-CN" altLang="zh-CN" sz="1200" dirty="0"/>
              <a:t>时间窗口是否合理；</a:t>
            </a:r>
          </a:p>
          <a:p>
            <a:pPr lvl="0"/>
            <a:r>
              <a:rPr lang="zh-CN" altLang="zh-CN" sz="1200" dirty="0"/>
              <a:t>是否超过调用预算；</a:t>
            </a:r>
          </a:p>
          <a:p>
            <a:pPr lvl="0"/>
            <a:r>
              <a:rPr lang="zh-CN" altLang="zh-CN" sz="1200" dirty="0"/>
              <a:t>是否重复查询；</a:t>
            </a:r>
          </a:p>
          <a:p>
            <a:pPr lvl="0"/>
            <a:r>
              <a:rPr lang="zh-CN" altLang="zh-CN" sz="1200" dirty="0"/>
              <a:t>范围扩大是否需要审批。</a:t>
            </a:r>
          </a:p>
          <a:p>
            <a:r>
              <a:rPr lang="zh-CN" altLang="zh-CN" sz="1200" dirty="0"/>
              <a:t>这层将 LLM 的“建议”转换为受控的系统操作。</a:t>
            </a:r>
          </a:p>
          <a:p>
            <a:endParaRPr lang="en-US" altLang="zh-CN" sz="1200" b="1" dirty="0"/>
          </a:p>
          <a:p>
            <a:r>
              <a:rPr lang="zh-CN" altLang="zh-CN" sz="1200" b="1" dirty="0"/>
              <a:t>统一 Tool Registry</a:t>
            </a:r>
            <a:endParaRPr lang="en-US" altLang="zh-CN" sz="1200" b="1" dirty="0"/>
          </a:p>
          <a:p>
            <a:r>
              <a:rPr lang="zh-CN" altLang="zh-CN" sz="1200" dirty="0"/>
              <a:t>Evidence Tool 和 Analysis Tool 统一注册，由 Agent 主动选择；Evidence Tool 返回 EvidenceBundle，Analysis Tool 返回明确的 Fact/Finding。</a:t>
            </a:r>
            <a:endParaRPr lang="en-US" altLang="zh-CN" sz="1200" dirty="0"/>
          </a:p>
          <a:p>
            <a:endParaRPr lang="en-US" altLang="zh-CN" sz="1200" b="1" dirty="0"/>
          </a:p>
          <a:p>
            <a:r>
              <a:rPr lang="zh-CN" altLang="en-US" sz="1200" b="1" dirty="0"/>
              <a:t>证据调查层：</a:t>
            </a:r>
            <a:r>
              <a:rPr lang="zh-CN" altLang="en-US" sz="1200" dirty="0"/>
              <a:t>接收</a:t>
            </a:r>
            <a:r>
              <a:rPr lang="en-US" altLang="zh-CN" sz="1200" dirty="0" err="1"/>
              <a:t>EvidenceRequest</a:t>
            </a:r>
            <a:r>
              <a:rPr lang="zh-CN" altLang="en-US" sz="1200" dirty="0"/>
              <a:t>，</a:t>
            </a:r>
            <a:r>
              <a:rPr lang="zh-CN" altLang="zh-CN" sz="1200" dirty="0"/>
              <a:t>运行 Evidence Tool，获取新 Evidence</a:t>
            </a:r>
            <a:endParaRPr lang="en-US" altLang="zh-CN" sz="1200" dirty="0"/>
          </a:p>
          <a:p>
            <a:r>
              <a:rPr lang="zh-CN" altLang="en-US" sz="1200" b="1" dirty="0"/>
              <a:t>证据分析层：</a:t>
            </a:r>
            <a:r>
              <a:rPr lang="zh-CN" altLang="zh-CN" sz="1200" dirty="0"/>
              <a:t>运行 Analysis Tool，对已有 Evidence 做确定性分析，生成 Fact/Finding。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zh-CN" sz="1200" b="1" dirty="0"/>
              <a:t>攻击路径层</a:t>
            </a:r>
            <a:endParaRPr lang="en-US" altLang="zh-CN" sz="1200" b="1" dirty="0"/>
          </a:p>
          <a:p>
            <a:r>
              <a:rPr lang="zh-CN" altLang="zh-CN" sz="1200" b="1" dirty="0"/>
              <a:t>结论验证层</a:t>
            </a:r>
            <a:endParaRPr lang="en-US" altLang="zh-CN" sz="1200" b="1" dirty="0"/>
          </a:p>
          <a:p>
            <a:r>
              <a:rPr lang="zh-CN" altLang="zh-CN" sz="1200" b="1" dirty="0"/>
              <a:t>报告输出层</a:t>
            </a:r>
            <a:endParaRPr lang="en-US" altLang="zh-CN" sz="1200" b="1" dirty="0"/>
          </a:p>
          <a:p>
            <a:endParaRPr lang="en-US" altLang="zh-CN" sz="12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0D3DA47-CF0F-38F0-BB6E-30107E0EC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69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87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1BDB-2619-3AD2-5636-B49AC250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6B8E3216-A044-9885-6458-2B54EF097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300" y="0"/>
            <a:ext cx="6245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02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82A3-637B-A7CC-84F3-99A2276B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DB2DB6-20DD-1DD5-3BF6-2E3D58900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224"/>
            <a:ext cx="12192000" cy="622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4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3DF6-C6CA-19BF-04D0-B1A04100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3FDA292-3283-A99A-8AB7-FB154554E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2396"/>
            <a:ext cx="12192000" cy="2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E58DD-E989-3815-1D51-535B4631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D6F04E-E303-7B77-3E80-D1D080A240FF}"/>
              </a:ext>
            </a:extLst>
          </p:cNvPr>
          <p:cNvSpPr txBox="1"/>
          <p:nvPr/>
        </p:nvSpPr>
        <p:spPr>
          <a:xfrm>
            <a:off x="7302500" y="254000"/>
            <a:ext cx="46228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案件输入层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1. </a:t>
            </a:r>
            <a:r>
              <a:rPr lang="en-US" altLang="zh-CN" sz="1400" dirty="0" err="1"/>
              <a:t>RawCaseInput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	</a:t>
            </a: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T_FILE_DETAILS</a:t>
            </a:r>
            <a:r>
              <a:rPr lang="zh-CN" altLang="en-US" sz="1200" dirty="0"/>
              <a:t>原始</a:t>
            </a: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zh-CN" altLang="en-US" sz="1200" dirty="0">
                <a:latin typeface="+mn-ea"/>
                <a:cs typeface="Calibri" panose="020F0502020204030204" pitchFamily="34" charset="0"/>
              </a:rPr>
              <a:t>，完整保留</a:t>
            </a:r>
            <a:endParaRPr lang="en-US" altLang="zh-CN" sz="1400" dirty="0">
              <a:latin typeface="+mn-ea"/>
              <a:cs typeface="Calibri" panose="020F0502020204030204" pitchFamily="34" charset="0"/>
            </a:endParaRPr>
          </a:p>
          <a:p>
            <a:r>
              <a:rPr lang="en-US" altLang="zh-CN" sz="1400" dirty="0"/>
              <a:t>2. </a:t>
            </a:r>
            <a:r>
              <a:rPr lang="en-US" altLang="zh-CN" sz="1400" dirty="0" err="1"/>
              <a:t>NormalizedCase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200" dirty="0"/>
              <a:t>	</a:t>
            </a:r>
            <a:r>
              <a:rPr lang="zh-CN" altLang="en-US" sz="1200" dirty="0"/>
              <a:t>上游字段转换成项目自己的稳定数据模型</a:t>
            </a:r>
            <a:endParaRPr lang="en-US" altLang="zh-CN" sz="1200" dirty="0"/>
          </a:p>
          <a:p>
            <a:r>
              <a:rPr lang="en-US" altLang="zh-CN" sz="1400" dirty="0"/>
              <a:t>3. </a:t>
            </a:r>
            <a:r>
              <a:rPr lang="en-US" altLang="zh-CN" sz="1400" dirty="0" err="1"/>
              <a:t>InitialEvidence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200" dirty="0"/>
              <a:t>	</a:t>
            </a:r>
            <a:r>
              <a:rPr lang="zh-CN" altLang="en-US" sz="1200" dirty="0"/>
              <a:t>将 </a:t>
            </a:r>
            <a:r>
              <a:rPr lang="en-US" altLang="zh-CN" sz="1200" dirty="0"/>
              <a:t>DETAIL</a:t>
            </a:r>
            <a:r>
              <a:rPr lang="zh-CN" altLang="en-US" sz="1200" dirty="0"/>
              <a:t>、</a:t>
            </a:r>
            <a:r>
              <a:rPr lang="en-US" altLang="zh-CN" sz="1200" dirty="0"/>
              <a:t>PID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Process_NAME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Sync_status</a:t>
            </a:r>
            <a:r>
              <a:rPr lang="en-US" altLang="zh-CN" sz="1200" dirty="0"/>
              <a:t> </a:t>
            </a:r>
            <a:r>
              <a:rPr lang="zh-CN" altLang="en-US" sz="1200" dirty="0"/>
              <a:t>等上游线索转换成初始证据或声明，但不能自动全部升级为已确认 </a:t>
            </a:r>
            <a:r>
              <a:rPr lang="en-US" altLang="zh-CN" sz="1200" dirty="0"/>
              <a:t>Fact</a:t>
            </a:r>
          </a:p>
          <a:p>
            <a:r>
              <a:rPr lang="en-US" altLang="zh-CN" sz="1400" dirty="0"/>
              <a:t>4. </a:t>
            </a:r>
            <a:r>
              <a:rPr lang="zh-CN" altLang="zh-CN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InitialCasePackage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	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"case": {},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"subject": {},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"environment": {},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detection_context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{},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initial_claims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{},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initial_evidence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[],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initial_facts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[],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initial_evidence_gaps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[],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investigation_scope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{},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data_quality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{}</a:t>
            </a:r>
          </a:p>
          <a:p>
            <a:pPr lvl="2"/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altLang="zh-CN" sz="1400" dirty="0"/>
              <a:t>	</a:t>
            </a:r>
            <a:endParaRPr lang="zh-CN" altLang="en-US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9CBB61-4BDF-99BC-5A0E-29A35BDAD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501"/>
            <a:ext cx="7346950" cy="471285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A5112FE-2384-DC73-4103-F17ACF67C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78400"/>
            <a:ext cx="10304824" cy="18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DA69-8257-AA98-540D-409F4D9B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0C3D713-8E9E-6923-5210-333374564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53201" cy="35569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4F084D-4D5E-4254-9A91-B4DC065243BC}"/>
              </a:ext>
            </a:extLst>
          </p:cNvPr>
          <p:cNvSpPr txBox="1"/>
          <p:nvPr/>
        </p:nvSpPr>
        <p:spPr>
          <a:xfrm>
            <a:off x="47774" y="3499319"/>
            <a:ext cx="86677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Evidence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 marL="171450" indent="-171450">
              <a:buFontTx/>
              <a:buChar char="-"/>
            </a:pPr>
            <a:r>
              <a:rPr lang="zh-CN" altLang="en-US" sz="1200" dirty="0"/>
              <a:t>来源：案件输入、进程查询、网络查询、</a:t>
            </a:r>
            <a:r>
              <a:rPr lang="en-US" altLang="zh-CN" sz="1200" dirty="0" err="1"/>
              <a:t>auditd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journald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systemd</a:t>
            </a:r>
            <a:r>
              <a:rPr lang="zh-CN" altLang="en-US" sz="1200" dirty="0"/>
              <a:t>、静态分析；</a:t>
            </a:r>
            <a:endParaRPr lang="en-US" altLang="zh-CN" sz="1200" dirty="0"/>
          </a:p>
          <a:p>
            <a:pPr marL="171450" indent="-171450">
              <a:buFontTx/>
              <a:buChar char="-"/>
            </a:pPr>
            <a:r>
              <a:rPr lang="en-US" altLang="zh-CN" sz="1200" dirty="0"/>
              <a:t>agent</a:t>
            </a:r>
            <a:r>
              <a:rPr lang="zh-CN" altLang="en-US" sz="1200" dirty="0"/>
              <a:t>只能引用</a:t>
            </a:r>
            <a:r>
              <a:rPr lang="en-US" altLang="zh-CN" sz="1200" dirty="0"/>
              <a:t>evidence</a:t>
            </a:r>
            <a:r>
              <a:rPr lang="zh-CN" altLang="en-US" sz="1200" dirty="0"/>
              <a:t>，不能创建</a:t>
            </a:r>
            <a:endParaRPr lang="en-US" altLang="zh-CN" sz="1200" dirty="0"/>
          </a:p>
          <a:p>
            <a:pPr marL="171450" indent="-171450">
              <a:buFontTx/>
              <a:buChar char="-"/>
            </a:pPr>
            <a:endParaRPr lang="en-US" altLang="zh-CN" sz="1200" dirty="0"/>
          </a:p>
          <a:p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09D531-1B2B-A7BD-287C-886FD0AC457B}"/>
              </a:ext>
            </a:extLst>
          </p:cNvPr>
          <p:cNvSpPr txBox="1"/>
          <p:nvPr/>
        </p:nvSpPr>
        <p:spPr>
          <a:xfrm>
            <a:off x="47774" y="4180344"/>
            <a:ext cx="5949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Eg:</a:t>
            </a:r>
          </a:p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evidence_id</a:t>
            </a:r>
            <a:r>
              <a:rPr lang="en-US" altLang="zh-CN" sz="1200" dirty="0"/>
              <a:t>": "ev-input-001",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evidence_type</a:t>
            </a:r>
            <a:r>
              <a:rPr lang="en-US" altLang="zh-CN" sz="1200" dirty="0"/>
              <a:t>": "</a:t>
            </a:r>
            <a:r>
              <a:rPr lang="en-US" altLang="zh-CN" sz="1200" dirty="0" err="1"/>
              <a:t>upstream_file_observation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"source": {</a:t>
            </a:r>
          </a:p>
          <a:p>
            <a:r>
              <a:rPr lang="en-US" altLang="zh-CN" sz="1200" dirty="0"/>
              <a:t>    "system": "unknown-file-detection",</a:t>
            </a:r>
          </a:p>
          <a:p>
            <a:r>
              <a:rPr lang="en-US" altLang="zh-CN" sz="1200" dirty="0"/>
              <a:t>    "</a:t>
            </a:r>
            <a:r>
              <a:rPr lang="en-US" altLang="zh-CN" sz="1200" dirty="0" err="1"/>
              <a:t>record_id</a:t>
            </a:r>
            <a:r>
              <a:rPr lang="en-US" altLang="zh-CN" sz="1200" dirty="0"/>
              <a:t>": "T_FILE_DETAILS-001"</a:t>
            </a:r>
          </a:p>
          <a:p>
            <a:r>
              <a:rPr lang="en-US" altLang="zh-CN" sz="1200" dirty="0"/>
              <a:t>  },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observed_at</a:t>
            </a:r>
            <a:r>
              <a:rPr lang="en-US" altLang="zh-CN" sz="1200" dirty="0"/>
              <a:t>": "2026-07-29T07:40:00Z",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subject_refs</a:t>
            </a:r>
            <a:r>
              <a:rPr lang="en-US" altLang="zh-CN" sz="1200" dirty="0"/>
              <a:t>": ["file-001", "host-001"],</a:t>
            </a:r>
          </a:p>
          <a:p>
            <a:r>
              <a:rPr lang="en-US" altLang="zh-CN" sz="1200" dirty="0"/>
              <a:t>  "data": {</a:t>
            </a:r>
          </a:p>
          <a:p>
            <a:r>
              <a:rPr lang="en-US" altLang="zh-CN" sz="1200" dirty="0"/>
              <a:t>    "</a:t>
            </a:r>
            <a:r>
              <a:rPr lang="en-US" altLang="zh-CN" sz="1200" dirty="0" err="1"/>
              <a:t>file_path</a:t>
            </a:r>
            <a:r>
              <a:rPr lang="en-US" altLang="zh-CN" sz="1200" dirty="0"/>
              <a:t>": "/</a:t>
            </a:r>
            <a:r>
              <a:rPr lang="en-US" altLang="zh-CN" sz="1200" dirty="0" err="1"/>
              <a:t>tmp</a:t>
            </a:r>
            <a:r>
              <a:rPr lang="en-US" altLang="zh-CN" sz="1200" dirty="0"/>
              <a:t>/.x/</a:t>
            </a:r>
            <a:r>
              <a:rPr lang="en-US" altLang="zh-CN" sz="1200" dirty="0" err="1"/>
              <a:t>kinsing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  "sha256": "..."</a:t>
            </a:r>
          </a:p>
          <a:p>
            <a:r>
              <a:rPr lang="en-US" altLang="zh-CN" sz="1200" dirty="0"/>
              <a:t>  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CF611E-4D49-74E9-C22D-323D88D7903B}"/>
              </a:ext>
            </a:extLst>
          </p:cNvPr>
          <p:cNvSpPr txBox="1"/>
          <p:nvPr/>
        </p:nvSpPr>
        <p:spPr>
          <a:xfrm>
            <a:off x="2794000" y="5232097"/>
            <a:ext cx="3867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},</a:t>
            </a:r>
          </a:p>
          <a:p>
            <a:r>
              <a:rPr lang="en-US" altLang="zh-CN" sz="1200" dirty="0"/>
              <a:t>  "quality": {</a:t>
            </a:r>
          </a:p>
          <a:p>
            <a:r>
              <a:rPr lang="en-US" altLang="zh-CN" sz="1200" dirty="0"/>
              <a:t>    "status": "available",</a:t>
            </a:r>
          </a:p>
          <a:p>
            <a:r>
              <a:rPr lang="en-US" altLang="zh-CN" sz="1200" dirty="0"/>
              <a:t>    "limitations": []</a:t>
            </a:r>
          </a:p>
          <a:p>
            <a:r>
              <a:rPr lang="en-US" altLang="zh-CN" sz="1200" dirty="0"/>
              <a:t>  },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raw_reference</a:t>
            </a:r>
            <a:r>
              <a:rPr lang="en-US" altLang="zh-CN" sz="1200" dirty="0"/>
              <a:t>": "raw-input://T_FILE_DETAILS-001"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4E2E6E-D790-9F11-768B-2E2C47E6B4E5}"/>
              </a:ext>
            </a:extLst>
          </p:cNvPr>
          <p:cNvSpPr txBox="1"/>
          <p:nvPr/>
        </p:nvSpPr>
        <p:spPr>
          <a:xfrm>
            <a:off x="6700912" y="3556960"/>
            <a:ext cx="53941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Claim </a:t>
            </a:r>
            <a:r>
              <a:rPr lang="zh-CN" altLang="en-US" sz="1200" b="1" dirty="0"/>
              <a:t>：</a:t>
            </a:r>
            <a:r>
              <a:rPr lang="zh-CN" altLang="zh-CN" sz="1200" dirty="0"/>
              <a:t>“有人或某个系统声称发生了什么”，但尚未完成独立验证</a:t>
            </a:r>
            <a:r>
              <a:rPr lang="zh-CN" altLang="en-US" sz="1200" dirty="0"/>
              <a:t>，未到</a:t>
            </a:r>
            <a:r>
              <a:rPr lang="en-US" altLang="zh-CN" sz="1200" dirty="0"/>
              <a:t>fact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r>
              <a:rPr lang="en-US" altLang="zh-CN" sz="1200" dirty="0"/>
              <a:t>Eg:</a:t>
            </a:r>
          </a:p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claim_id</a:t>
            </a:r>
            <a:r>
              <a:rPr lang="en-US" altLang="zh-CN" sz="1200" dirty="0"/>
              <a:t>": "claim-001",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claim_type</a:t>
            </a:r>
            <a:r>
              <a:rPr lang="en-US" altLang="zh-CN" sz="1200" dirty="0"/>
              <a:t>": "</a:t>
            </a:r>
            <a:r>
              <a:rPr lang="en-US" altLang="zh-CN" sz="1200" dirty="0" err="1"/>
              <a:t>reported_process_chain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"statement": "</a:t>
            </a:r>
            <a:r>
              <a:rPr lang="zh-CN" altLang="en-US" sz="1200" dirty="0"/>
              <a:t>上游报告</a:t>
            </a:r>
            <a:r>
              <a:rPr lang="en-US" altLang="zh-CN" sz="1200" dirty="0" err="1"/>
              <a:t>sshd→bash→kinsing</a:t>
            </a:r>
            <a:r>
              <a:rPr lang="zh-CN" altLang="en-US" sz="1200" dirty="0"/>
              <a:t>进程链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source_evidence_refs</a:t>
            </a:r>
            <a:r>
              <a:rPr lang="en-US" altLang="zh-CN" sz="1200" dirty="0"/>
              <a:t>": ["ev-input-002"],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verification_state</a:t>
            </a:r>
            <a:r>
              <a:rPr lang="en-US" altLang="zh-CN" sz="1200" dirty="0"/>
              <a:t>": "unverified",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verification_requirements</a:t>
            </a:r>
            <a:r>
              <a:rPr lang="en-US" altLang="zh-CN" sz="1200" dirty="0"/>
              <a:t>": [</a:t>
            </a:r>
          </a:p>
          <a:p>
            <a:r>
              <a:rPr lang="en-US" altLang="zh-CN" sz="1200" dirty="0"/>
              <a:t>    "</a:t>
            </a:r>
            <a:r>
              <a:rPr lang="zh-CN" altLang="en-US" sz="1200" dirty="0"/>
              <a:t>查询进程启动事件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  "</a:t>
            </a:r>
            <a:r>
              <a:rPr lang="zh-CN" altLang="en-US" sz="1200" dirty="0"/>
              <a:t>确认</a:t>
            </a:r>
            <a:r>
              <a:rPr lang="en-US" altLang="zh-CN" sz="1200" dirty="0"/>
              <a:t>PID</a:t>
            </a:r>
            <a:r>
              <a:rPr lang="zh-CN" altLang="en-US" sz="1200" dirty="0"/>
              <a:t>和启动时间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  "</a:t>
            </a:r>
            <a:r>
              <a:rPr lang="zh-CN" altLang="en-US" sz="1200" dirty="0"/>
              <a:t>确认父子进程关系</a:t>
            </a:r>
            <a:r>
              <a:rPr lang="en-US" altLang="zh-CN" sz="1200" dirty="0"/>
              <a:t>"</a:t>
            </a:r>
          </a:p>
          <a:p>
            <a:r>
              <a:rPr lang="en-US" altLang="zh-CN" sz="1200" dirty="0"/>
              <a:t>  ]</a:t>
            </a:r>
          </a:p>
          <a:p>
            <a:r>
              <a:rPr lang="en-US" altLang="zh-CN" sz="1200" dirty="0"/>
              <a:t>}</a:t>
            </a:r>
          </a:p>
          <a:p>
            <a:r>
              <a:rPr lang="zh-CN" altLang="en-US" sz="1200" dirty="0"/>
              <a:t>状态可以为：</a:t>
            </a:r>
            <a:r>
              <a:rPr lang="en-US" altLang="zh-CN" sz="1200" dirty="0"/>
              <a:t>unverified</a:t>
            </a:r>
            <a:r>
              <a:rPr lang="zh-CN" altLang="en-US" sz="1200" dirty="0"/>
              <a:t>、</a:t>
            </a:r>
            <a:r>
              <a:rPr lang="en-US" altLang="zh-CN" sz="1200" dirty="0"/>
              <a:t>supported</a:t>
            </a:r>
            <a:r>
              <a:rPr lang="zh-CN" altLang="en-US" sz="1200" dirty="0"/>
              <a:t>、</a:t>
            </a:r>
            <a:r>
              <a:rPr lang="en-US" altLang="zh-CN" sz="1200" dirty="0"/>
              <a:t>confirmed</a:t>
            </a:r>
            <a:r>
              <a:rPr lang="zh-CN" altLang="en-US" sz="1200" dirty="0"/>
              <a:t>、</a:t>
            </a:r>
            <a:r>
              <a:rPr lang="en-US" altLang="zh-CN" sz="1200" dirty="0"/>
              <a:t>contradicted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01C99A-5596-85A0-C252-F6A369CF0F27}"/>
              </a:ext>
            </a:extLst>
          </p:cNvPr>
          <p:cNvSpPr txBox="1"/>
          <p:nvPr/>
        </p:nvSpPr>
        <p:spPr>
          <a:xfrm>
            <a:off x="9150350" y="130941"/>
            <a:ext cx="2292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案件状态层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zh-CN" altLang="en-US" sz="1400" dirty="0"/>
              <a:t>需要维护的动态对象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493673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8D35-4048-A156-E1A0-6F348537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943D7BE-5C00-D15F-1BAC-2267CDF6F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53201" cy="35569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AEC92B0-E5D4-AC37-E749-18C228AF36EB}"/>
              </a:ext>
            </a:extLst>
          </p:cNvPr>
          <p:cNvSpPr txBox="1"/>
          <p:nvPr/>
        </p:nvSpPr>
        <p:spPr>
          <a:xfrm>
            <a:off x="139702" y="3507120"/>
            <a:ext cx="394969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Fact </a:t>
            </a:r>
            <a:r>
              <a:rPr lang="zh-CN" altLang="en-US" sz="1200" b="1" dirty="0"/>
              <a:t>：</a:t>
            </a:r>
            <a:r>
              <a:rPr lang="zh-CN" altLang="zh-CN" sz="1200" dirty="0"/>
              <a:t>是经过证据验证的原子事实。</a:t>
            </a:r>
            <a:r>
              <a:rPr lang="en-US" altLang="zh-CN" sz="1200" dirty="0"/>
              <a:t>Fact </a:t>
            </a:r>
            <a:r>
              <a:rPr lang="zh-CN" altLang="en-US" sz="1200" dirty="0"/>
              <a:t>应尽量原子化</a:t>
            </a:r>
            <a:endParaRPr lang="en-US" altLang="zh-CN" sz="1200" dirty="0"/>
          </a:p>
          <a:p>
            <a:r>
              <a:rPr lang="en-US" altLang="zh-CN" sz="1200" dirty="0" err="1"/>
              <a:t>eg</a:t>
            </a:r>
            <a:r>
              <a:rPr lang="en-US" altLang="zh-CN" sz="1200" dirty="0"/>
              <a:t>:</a:t>
            </a:r>
          </a:p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fact_id</a:t>
            </a:r>
            <a:r>
              <a:rPr lang="en-US" altLang="zh-CN" sz="1200" dirty="0"/>
              <a:t>": "fact-001",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fact_type</a:t>
            </a:r>
            <a:r>
              <a:rPr lang="en-US" altLang="zh-CN" sz="1200" dirty="0"/>
              <a:t>": "</a:t>
            </a:r>
            <a:r>
              <a:rPr lang="en-US" altLang="zh-CN" sz="1200" dirty="0" err="1"/>
              <a:t>file_executed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"statement": "</a:t>
            </a:r>
            <a:r>
              <a:rPr lang="zh-CN" altLang="en-US" sz="1200" dirty="0"/>
              <a:t>文件</a:t>
            </a:r>
            <a:r>
              <a:rPr lang="en-US" altLang="zh-CN" sz="1200" dirty="0"/>
              <a:t>/</a:t>
            </a:r>
            <a:r>
              <a:rPr lang="en-US" altLang="zh-CN" sz="1200" dirty="0" err="1"/>
              <a:t>tmp</a:t>
            </a:r>
            <a:r>
              <a:rPr lang="en-US" altLang="zh-CN" sz="1200" dirty="0"/>
              <a:t>/.x/</a:t>
            </a:r>
            <a:r>
              <a:rPr lang="en-US" altLang="zh-CN" sz="1200" dirty="0" err="1"/>
              <a:t>kinsing</a:t>
            </a:r>
            <a:r>
              <a:rPr lang="zh-CN" altLang="en-US" sz="1200" dirty="0"/>
              <a:t>在目标主机被执行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subject_refs</a:t>
            </a:r>
            <a:r>
              <a:rPr lang="en-US" altLang="zh-CN" sz="1200" dirty="0"/>
              <a:t>": ["file-001", "proc-001"],</a:t>
            </a:r>
          </a:p>
          <a:p>
            <a:r>
              <a:rPr lang="en-US" altLang="zh-CN" sz="1200" dirty="0"/>
              <a:t>  "time": "2026-07-29T07:40:44.221Z",</a:t>
            </a:r>
          </a:p>
          <a:p>
            <a:r>
              <a:rPr lang="en-US" altLang="zh-CN" sz="1200" dirty="0"/>
              <a:t>  "</a:t>
            </a:r>
            <a:r>
              <a:rPr lang="en-US" altLang="zh-CN" sz="1200" dirty="0" err="1"/>
              <a:t>evidence_refs</a:t>
            </a:r>
            <a:r>
              <a:rPr lang="en-US" altLang="zh-CN" sz="1200" dirty="0"/>
              <a:t>": [</a:t>
            </a:r>
          </a:p>
          <a:p>
            <a:r>
              <a:rPr lang="en-US" altLang="zh-CN" sz="1200" dirty="0"/>
              <a:t>    "ev-audit-001",</a:t>
            </a:r>
          </a:p>
          <a:p>
            <a:r>
              <a:rPr lang="en-US" altLang="zh-CN" sz="1200" dirty="0"/>
              <a:t>    "ev-process-001"</a:t>
            </a:r>
          </a:p>
          <a:p>
            <a:r>
              <a:rPr lang="en-US" altLang="zh-CN" sz="1200" dirty="0"/>
              <a:t>  ],</a:t>
            </a:r>
          </a:p>
          <a:p>
            <a:r>
              <a:rPr lang="en-US" altLang="zh-CN" sz="1200" dirty="0"/>
              <a:t>  "verification": {</a:t>
            </a:r>
          </a:p>
          <a:p>
            <a:r>
              <a:rPr lang="en-US" altLang="zh-CN" sz="1200" dirty="0"/>
              <a:t>    "method": "</a:t>
            </a:r>
            <a:r>
              <a:rPr lang="en-US" altLang="zh-CN" sz="1200" dirty="0" err="1"/>
              <a:t>ExecutionVerifier</a:t>
            </a:r>
            <a:r>
              <a:rPr lang="en-US" altLang="zh-CN" sz="1200" dirty="0"/>
              <a:t>",</a:t>
            </a:r>
          </a:p>
          <a:p>
            <a:r>
              <a:rPr lang="en-US" altLang="zh-CN" sz="1200" dirty="0"/>
              <a:t>    "status": "confirmed"</a:t>
            </a:r>
          </a:p>
          <a:p>
            <a:r>
              <a:rPr lang="en-US" altLang="zh-CN" sz="1200" dirty="0"/>
              <a:t>  }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EC88F4-BF3A-4345-18CC-2DCEB78ED5BF}"/>
              </a:ext>
            </a:extLst>
          </p:cNvPr>
          <p:cNvSpPr txBox="1"/>
          <p:nvPr/>
        </p:nvSpPr>
        <p:spPr>
          <a:xfrm>
            <a:off x="4108300" y="3507120"/>
            <a:ext cx="7353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Finding</a:t>
            </a:r>
            <a:r>
              <a:rPr lang="zh-CN" altLang="en-US" sz="1200" b="1" dirty="0"/>
              <a:t>：</a:t>
            </a:r>
            <a:r>
              <a:rPr lang="zh-CN" altLang="zh-CN" sz="1200" dirty="0"/>
              <a:t>确定性 Analyzer 基于一个或多个 Evidence/Fact 识别出的行为模式。</a:t>
            </a:r>
            <a:endParaRPr lang="en-US" altLang="zh-CN" sz="1200" dirty="0"/>
          </a:p>
          <a:p>
            <a:endParaRPr lang="zh-CN" altLang="zh-CN" sz="1200" dirty="0"/>
          </a:p>
          <a:p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D5D2C8-E40C-85BD-D85D-DA601DE73E48}"/>
              </a:ext>
            </a:extLst>
          </p:cNvPr>
          <p:cNvSpPr txBox="1"/>
          <p:nvPr/>
        </p:nvSpPr>
        <p:spPr>
          <a:xfrm>
            <a:off x="4365625" y="3659520"/>
            <a:ext cx="5686425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{</a:t>
            </a:r>
          </a:p>
          <a:p>
            <a:r>
              <a:rPr lang="zh-CN" altLang="en-US" sz="1100" dirty="0"/>
              <a:t>  "finding_id": "finding-001",</a:t>
            </a:r>
          </a:p>
          <a:p>
            <a:r>
              <a:rPr lang="zh-CN" altLang="en-US" sz="1100" dirty="0"/>
              <a:t>  "finding_type": "periodic_outbound_connection",</a:t>
            </a:r>
          </a:p>
          <a:p>
            <a:r>
              <a:rPr lang="zh-CN" altLang="en-US" sz="1100" dirty="0"/>
              <a:t>  "statement": "目标进程约每60秒连接相同外部地址",</a:t>
            </a:r>
          </a:p>
          <a:p>
            <a:r>
              <a:rPr lang="zh-CN" altLang="en-US" sz="1100" dirty="0"/>
              <a:t>  "subject_refs": ["proc-001"],</a:t>
            </a:r>
          </a:p>
          <a:p>
            <a:r>
              <a:rPr lang="zh-CN" altLang="en-US" sz="1100" dirty="0"/>
              <a:t>  "evidence_refs": [</a:t>
            </a:r>
          </a:p>
          <a:p>
            <a:r>
              <a:rPr lang="zh-CN" altLang="en-US" sz="1100" dirty="0"/>
              <a:t>    "ev-net-001",</a:t>
            </a:r>
          </a:p>
          <a:p>
            <a:r>
              <a:rPr lang="zh-CN" altLang="en-US" sz="1100" dirty="0"/>
              <a:t>    "ev-net-002",</a:t>
            </a:r>
          </a:p>
          <a:p>
            <a:r>
              <a:rPr lang="zh-CN" altLang="en-US" sz="1100" dirty="0"/>
              <a:t>    "ev-net-003"</a:t>
            </a:r>
          </a:p>
          <a:p>
            <a:r>
              <a:rPr lang="zh-CN" altLang="en-US" sz="1100" dirty="0"/>
              <a:t>  ],</a:t>
            </a:r>
          </a:p>
          <a:p>
            <a:r>
              <a:rPr lang="zh-CN" altLang="en-US" sz="1100" dirty="0"/>
              <a:t>  "analysis": {</a:t>
            </a:r>
          </a:p>
          <a:p>
            <a:r>
              <a:rPr lang="zh-CN" altLang="en-US" sz="1100" dirty="0"/>
              <a:t>    "analyzer": "PeriodicConnectionAnalyzer",</a:t>
            </a:r>
          </a:p>
          <a:p>
            <a:r>
              <a:rPr lang="zh-CN" altLang="en-US" sz="1100" dirty="0"/>
              <a:t>    "version": "1.0"</a:t>
            </a:r>
          </a:p>
          <a:p>
            <a:r>
              <a:rPr lang="zh-CN" altLang="en-US" sz="1100" dirty="0"/>
              <a:t>  },</a:t>
            </a:r>
          </a:p>
          <a:p>
            <a:r>
              <a:rPr lang="zh-CN" altLang="en-US" sz="1100" dirty="0"/>
              <a:t>  "confidence": 0.96,</a:t>
            </a:r>
          </a:p>
          <a:p>
            <a:r>
              <a:rPr lang="zh-CN" altLang="en-US" sz="1100" dirty="0"/>
              <a:t>  "limitations": [</a:t>
            </a:r>
          </a:p>
          <a:p>
            <a:r>
              <a:rPr lang="zh-CN" altLang="en-US" sz="1100" dirty="0"/>
              <a:t>    "缺少TLS应用层内容"</a:t>
            </a:r>
          </a:p>
          <a:p>
            <a:r>
              <a:rPr lang="zh-CN" altLang="en-US" sz="1100" dirty="0"/>
              <a:t>  ]</a:t>
            </a:r>
          </a:p>
          <a:p>
            <a:r>
              <a:rPr lang="zh-CN" alt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043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ECD3-394C-BB78-6902-3647DFDE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7903391-82CE-6CC1-7075-F96C4A7C8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53201" cy="35569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011B39B-901D-531F-0E3C-23E567024676}"/>
              </a:ext>
            </a:extLst>
          </p:cNvPr>
          <p:cNvSpPr txBox="1"/>
          <p:nvPr/>
        </p:nvSpPr>
        <p:spPr>
          <a:xfrm>
            <a:off x="158602" y="3507120"/>
            <a:ext cx="394969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Hypothesis</a:t>
            </a:r>
            <a:r>
              <a:rPr lang="zh-CN" altLang="en-US" sz="1200" b="1" dirty="0"/>
              <a:t>：</a:t>
            </a:r>
            <a:r>
              <a:rPr lang="zh-CN" altLang="zh-CN" sz="1200" b="1" dirty="0"/>
              <a:t> </a:t>
            </a:r>
            <a:r>
              <a:rPr lang="zh-CN" altLang="zh-CN" sz="1200" dirty="0"/>
              <a:t>Agent 对当前证据的案件解释。</a:t>
            </a:r>
            <a:r>
              <a:rPr lang="zh-CN" altLang="en-US" sz="1200" dirty="0"/>
              <a:t>能生成攻击解释，正常解释，证据不足解释。</a:t>
            </a:r>
            <a:endParaRPr lang="en-US" altLang="zh-CN" sz="1200" dirty="0"/>
          </a:p>
          <a:p>
            <a:r>
              <a:rPr lang="zh-CN" altLang="en-US" sz="1200" dirty="0"/>
              <a:t>{</a:t>
            </a:r>
          </a:p>
          <a:p>
            <a:r>
              <a:rPr lang="zh-CN" altLang="en-US" sz="1200" dirty="0"/>
              <a:t>  "hypothesis_id": "hyp-001",</a:t>
            </a:r>
          </a:p>
          <a:p>
            <a:r>
              <a:rPr lang="zh-CN" altLang="en-US" sz="1200" dirty="0"/>
              <a:t>  "hypothesis_type": "backdoor_c2",</a:t>
            </a:r>
          </a:p>
          <a:p>
            <a:r>
              <a:rPr lang="zh-CN" altLang="en-US" sz="1200" dirty="0"/>
              <a:t>  "statement": "目标文件可能作为后门建立长期控制",</a:t>
            </a:r>
          </a:p>
          <a:p>
            <a:r>
              <a:rPr lang="zh-CN" altLang="en-US" sz="1200" dirty="0"/>
              <a:t>  "supporting_refs": [</a:t>
            </a:r>
          </a:p>
          <a:p>
            <a:r>
              <a:rPr lang="zh-CN" altLang="en-US" sz="1200" dirty="0"/>
              <a:t>    "fact-001",</a:t>
            </a:r>
          </a:p>
          <a:p>
            <a:r>
              <a:rPr lang="zh-CN" altLang="en-US" sz="1200" dirty="0"/>
              <a:t>    "finding-001"</a:t>
            </a:r>
          </a:p>
          <a:p>
            <a:r>
              <a:rPr lang="zh-CN" altLang="en-US" sz="1200" dirty="0"/>
              <a:t>  ],</a:t>
            </a:r>
          </a:p>
          <a:p>
            <a:r>
              <a:rPr lang="zh-CN" altLang="en-US" sz="1200" dirty="0"/>
              <a:t>  "contradicting_refs": [],</a:t>
            </a:r>
          </a:p>
          <a:p>
            <a:r>
              <a:rPr lang="zh-CN" altLang="en-US" sz="1200" dirty="0"/>
              <a:t>  "missing_evidence_gap_refs": [</a:t>
            </a:r>
          </a:p>
          <a:p>
            <a:r>
              <a:rPr lang="zh-CN" altLang="en-US" sz="1200" dirty="0"/>
              <a:t>    "gap-001",</a:t>
            </a:r>
          </a:p>
          <a:p>
            <a:r>
              <a:rPr lang="zh-CN" altLang="en-US" sz="1200" dirty="0"/>
              <a:t>    "gap-002"</a:t>
            </a:r>
          </a:p>
          <a:p>
            <a:r>
              <a:rPr lang="zh-CN" altLang="en-US" sz="1200" dirty="0"/>
              <a:t>  ],</a:t>
            </a:r>
          </a:p>
          <a:p>
            <a:r>
              <a:rPr lang="zh-CN" altLang="en-US" sz="1200" dirty="0"/>
              <a:t>  "confidence": 0.55,</a:t>
            </a:r>
          </a:p>
          <a:p>
            <a:r>
              <a:rPr lang="zh-CN" altLang="en-US" sz="1200" dirty="0"/>
              <a:t>  "status": "open"</a:t>
            </a:r>
          </a:p>
          <a:p>
            <a:r>
              <a:rPr lang="zh-CN" altLang="en-US" sz="1200" dirty="0"/>
              <a:t>}</a:t>
            </a:r>
          </a:p>
          <a:p>
            <a:endParaRPr lang="en-US" altLang="zh-CN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EE8EE8-8DF8-9E78-3DEA-9C5C62F126C3}"/>
              </a:ext>
            </a:extLst>
          </p:cNvPr>
          <p:cNvSpPr txBox="1"/>
          <p:nvPr/>
        </p:nvSpPr>
        <p:spPr>
          <a:xfrm>
            <a:off x="4108300" y="3507120"/>
            <a:ext cx="73534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EvidenceGap：</a:t>
            </a:r>
            <a:r>
              <a:rPr lang="zh-CN" altLang="zh-CN" sz="1200" dirty="0"/>
              <a:t>当前缺少什么证据，以及这项证据会影响哪个假设。</a:t>
            </a:r>
            <a:endParaRPr lang="en-US" altLang="zh-CN" sz="1200" dirty="0"/>
          </a:p>
          <a:p>
            <a:r>
              <a:rPr lang="zh-CN" altLang="en-US" sz="1200" dirty="0"/>
              <a:t>状态：</a:t>
            </a:r>
            <a:r>
              <a:rPr lang="en-US" altLang="zh-CN" sz="1200" dirty="0"/>
              <a:t>open</a:t>
            </a:r>
            <a:r>
              <a:rPr lang="zh-CN" altLang="en-US" sz="1200" dirty="0"/>
              <a:t>、</a:t>
            </a:r>
            <a:r>
              <a:rPr lang="en-US" altLang="zh-CN" sz="1200" dirty="0"/>
              <a:t>querying</a:t>
            </a:r>
            <a:r>
              <a:rPr lang="zh-CN" altLang="en-US" sz="1200" dirty="0"/>
              <a:t>、</a:t>
            </a:r>
            <a:r>
              <a:rPr lang="en-US" altLang="zh-CN" sz="1200" dirty="0"/>
              <a:t>resolved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partially_resolved</a:t>
            </a:r>
            <a:r>
              <a:rPr lang="zh-CN" altLang="en-US" sz="1200" dirty="0"/>
              <a:t>、</a:t>
            </a:r>
            <a:r>
              <a:rPr lang="en-US" altLang="zh-CN" sz="1200" dirty="0"/>
              <a:t>unresolvable</a:t>
            </a:r>
            <a:endParaRPr lang="zh-CN" altLang="zh-CN" sz="1200" dirty="0"/>
          </a:p>
          <a:p>
            <a:endParaRPr lang="zh-CN" altLang="zh-CN" sz="1200" dirty="0"/>
          </a:p>
          <a:p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0F5BBA-870F-FCBE-F4B0-A6EC70BB8892}"/>
              </a:ext>
            </a:extLst>
          </p:cNvPr>
          <p:cNvSpPr txBox="1"/>
          <p:nvPr/>
        </p:nvSpPr>
        <p:spPr>
          <a:xfrm>
            <a:off x="4108300" y="3922618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{</a:t>
            </a:r>
          </a:p>
          <a:p>
            <a:r>
              <a:rPr lang="zh-CN" altLang="en-US" sz="1200" dirty="0"/>
              <a:t>  "gap_id": "gap-001",</a:t>
            </a:r>
          </a:p>
          <a:p>
            <a:r>
              <a:rPr lang="zh-CN" altLang="en-US" sz="1200" dirty="0"/>
              <a:t>  "question": "目标进程是否建立了周期性外连？",</a:t>
            </a:r>
          </a:p>
          <a:p>
            <a:r>
              <a:rPr lang="zh-CN" altLang="en-US" sz="1200" dirty="0"/>
              <a:t>  "reason": "需要验证C2假设",</a:t>
            </a:r>
          </a:p>
          <a:p>
            <a:r>
              <a:rPr lang="zh-CN" altLang="en-US" sz="1200" dirty="0"/>
              <a:t>  "related_hypothesis_refs": ["hyp-001"],</a:t>
            </a:r>
          </a:p>
          <a:p>
            <a:r>
              <a:rPr lang="zh-CN" altLang="en-US" sz="1200" dirty="0"/>
              <a:t>  "required_evidence_types": [</a:t>
            </a:r>
          </a:p>
          <a:p>
            <a:r>
              <a:rPr lang="zh-CN" altLang="en-US" sz="1200" dirty="0"/>
              <a:t>    "process_network_events"</a:t>
            </a:r>
          </a:p>
          <a:p>
            <a:r>
              <a:rPr lang="zh-CN" altLang="en-US" sz="1200" dirty="0"/>
              <a:t>  ],</a:t>
            </a:r>
          </a:p>
          <a:p>
            <a:r>
              <a:rPr lang="zh-CN" altLang="en-US" sz="1200" dirty="0"/>
              <a:t>  "recommended_tools": [</a:t>
            </a:r>
          </a:p>
          <a:p>
            <a:r>
              <a:rPr lang="zh-CN" altLang="en-US" sz="1200" dirty="0"/>
              <a:t>    "investigate_network_behavior"</a:t>
            </a:r>
          </a:p>
          <a:p>
            <a:r>
              <a:rPr lang="zh-CN" altLang="en-US" sz="1200" dirty="0"/>
              <a:t>  ],</a:t>
            </a:r>
          </a:p>
          <a:p>
            <a:r>
              <a:rPr lang="zh-CN" altLang="en-US" sz="1200" dirty="0"/>
              <a:t>  "priority": "high",</a:t>
            </a:r>
          </a:p>
          <a:p>
            <a:r>
              <a:rPr lang="zh-CN" altLang="en-US" sz="1200" dirty="0"/>
              <a:t>  "status": "open"</a:t>
            </a:r>
          </a:p>
          <a:p>
            <a:r>
              <a:rPr lang="zh-CN" alt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238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27DF-0B07-1C56-28C1-8CEDA1A1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9CEAFB-BBB5-90A1-8E16-B445CE84E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53201" cy="355696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6857804-C7D5-944B-AB83-E8622831B2C7}"/>
              </a:ext>
            </a:extLst>
          </p:cNvPr>
          <p:cNvSpPr txBox="1"/>
          <p:nvPr/>
        </p:nvSpPr>
        <p:spPr>
          <a:xfrm>
            <a:off x="146050" y="352521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Coverage </a:t>
            </a:r>
            <a:r>
              <a:rPr lang="zh-CN" altLang="en-US" sz="1200" b="1" dirty="0"/>
              <a:t>：</a:t>
            </a:r>
            <a:r>
              <a:rPr lang="zh-CN" altLang="zh-CN" sz="1200" dirty="0"/>
              <a:t>不是“有没有查到数据”，而是数据源的覆盖和质量。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595ACF-2625-163B-46A5-6E034E925CF0}"/>
              </a:ext>
            </a:extLst>
          </p:cNvPr>
          <p:cNvSpPr txBox="1"/>
          <p:nvPr/>
        </p:nvSpPr>
        <p:spPr>
          <a:xfrm>
            <a:off x="4806950" y="35252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dirty="0"/>
              <a:t>Scope </a:t>
            </a:r>
            <a:r>
              <a:rPr lang="zh-CN" altLang="en-US" sz="1200" b="1" dirty="0"/>
              <a:t>：</a:t>
            </a:r>
            <a:r>
              <a:rPr lang="zh-CN" altLang="zh-CN" sz="1200" dirty="0"/>
              <a:t>表示 Agent 当前被允许调查什么。</a:t>
            </a:r>
            <a:endParaRPr lang="en-US" altLang="zh-CN" sz="1200" dirty="0"/>
          </a:p>
          <a:p>
            <a:pPr marL="171450" indent="-171450">
              <a:buFontTx/>
              <a:buChar char="-"/>
            </a:pPr>
            <a:r>
              <a:rPr lang="zh-CN" altLang="en-US" sz="1200" dirty="0"/>
              <a:t>初始 </a:t>
            </a:r>
            <a:r>
              <a:rPr lang="en-US" altLang="zh-CN" sz="1200" dirty="0"/>
              <a:t>Scope </a:t>
            </a:r>
            <a:r>
              <a:rPr lang="zh-CN" altLang="en-US" sz="1200" dirty="0"/>
              <a:t>由输入层生成。</a:t>
            </a:r>
            <a:endParaRPr lang="en-US" altLang="zh-CN" sz="1200" dirty="0"/>
          </a:p>
          <a:p>
            <a:pPr marL="171450" indent="-171450">
              <a:buFontTx/>
              <a:buChar char="-"/>
            </a:pPr>
            <a:r>
              <a:rPr lang="en-US" altLang="zh-CN" sz="1200" dirty="0"/>
              <a:t>Agent</a:t>
            </a:r>
            <a:r>
              <a:rPr lang="zh-CN" altLang="en-US" sz="1200" dirty="0"/>
              <a:t>如果发现其他主机，只能提交：</a:t>
            </a:r>
            <a:r>
              <a:rPr lang="en-US" altLang="zh-CN" sz="1200" dirty="0" err="1"/>
              <a:t>ScopeRequest</a:t>
            </a:r>
            <a:endParaRPr lang="en-US" altLang="zh-CN" sz="1200" dirty="0"/>
          </a:p>
          <a:p>
            <a:pPr marL="171450" indent="-171450">
              <a:buFontTx/>
              <a:buChar char="-"/>
            </a:pPr>
            <a:r>
              <a:rPr lang="zh-CN" altLang="en-US" sz="1200" dirty="0"/>
              <a:t>由 </a:t>
            </a:r>
            <a:r>
              <a:rPr lang="en-US" altLang="zh-CN" sz="1200" dirty="0"/>
              <a:t>Policy Engine </a:t>
            </a:r>
            <a:r>
              <a:rPr lang="zh-CN" altLang="en-US" sz="1200" dirty="0"/>
              <a:t>修改 </a:t>
            </a:r>
            <a:r>
              <a:rPr lang="en-US" altLang="zh-CN" sz="1200" dirty="0"/>
              <a:t>Scope</a:t>
            </a:r>
            <a:r>
              <a:rPr lang="zh-CN" altLang="en-US" sz="1200" dirty="0"/>
              <a:t>。</a:t>
            </a:r>
            <a:r>
              <a:rPr lang="en-US" altLang="zh-CN" sz="1200" dirty="0"/>
              <a:t>Agent</a:t>
            </a:r>
            <a:r>
              <a:rPr lang="zh-CN" altLang="en-US" sz="1200" dirty="0"/>
              <a:t>不能直接修改。</a:t>
            </a:r>
            <a:endParaRPr lang="en-US" altLang="zh-CN" sz="1200" dirty="0"/>
          </a:p>
          <a:p>
            <a:pPr marL="171450" indent="-171450">
              <a:buFontTx/>
              <a:buChar char="-"/>
            </a:pPr>
            <a:endParaRPr lang="en-US" altLang="zh-CN" sz="1200" dirty="0"/>
          </a:p>
          <a:p>
            <a:pPr marL="171450" indent="-171450">
              <a:buFontTx/>
              <a:buChar char="-"/>
            </a:pPr>
            <a:endParaRPr lang="en-US" altLang="zh-CN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DE799F-9252-82EF-7EF4-CA261C82DA3A}"/>
              </a:ext>
            </a:extLst>
          </p:cNvPr>
          <p:cNvSpPr txBox="1"/>
          <p:nvPr/>
        </p:nvSpPr>
        <p:spPr>
          <a:xfrm>
            <a:off x="8883649" y="3072348"/>
            <a:ext cx="38668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{</a:t>
            </a:r>
          </a:p>
          <a:p>
            <a:r>
              <a:rPr lang="zh-CN" altLang="en-US" sz="1200" dirty="0"/>
              <a:t>  "scope_id": "scope-001",</a:t>
            </a:r>
          </a:p>
          <a:p>
            <a:r>
              <a:rPr lang="zh-CN" altLang="en-US" sz="1200" dirty="0"/>
              <a:t>  "hosts": ["server-01"],</a:t>
            </a:r>
          </a:p>
          <a:p>
            <a:r>
              <a:rPr lang="zh-CN" altLang="en-US" sz="1200" dirty="0"/>
              <a:t>  "containers": ["container-001"],</a:t>
            </a:r>
          </a:p>
          <a:p>
            <a:r>
              <a:rPr lang="zh-CN" altLang="en-US" sz="1200" dirty="0"/>
              <a:t>  "time_range": {</a:t>
            </a:r>
          </a:p>
          <a:p>
            <a:r>
              <a:rPr lang="zh-CN" altLang="en-US" sz="1200" dirty="0"/>
              <a:t>    "start": "...",</a:t>
            </a:r>
          </a:p>
          <a:p>
            <a:r>
              <a:rPr lang="zh-CN" altLang="en-US" sz="1200" dirty="0"/>
              <a:t>    "end": "..."</a:t>
            </a:r>
          </a:p>
          <a:p>
            <a:r>
              <a:rPr lang="zh-CN" altLang="en-US" sz="1200" dirty="0"/>
              <a:t>  },</a:t>
            </a:r>
          </a:p>
          <a:p>
            <a:r>
              <a:rPr lang="zh-CN" altLang="en-US" sz="1200" dirty="0"/>
              <a:t>  "entities": [</a:t>
            </a:r>
          </a:p>
          <a:p>
            <a:r>
              <a:rPr lang="zh-CN" altLang="en-US" sz="1200" dirty="0"/>
              <a:t>    "file-001",</a:t>
            </a:r>
          </a:p>
          <a:p>
            <a:r>
              <a:rPr lang="zh-CN" altLang="en-US" sz="1200" dirty="0"/>
              <a:t>    "proc-claim-001"</a:t>
            </a:r>
          </a:p>
          <a:p>
            <a:r>
              <a:rPr lang="zh-CN" altLang="en-US" sz="1200" dirty="0"/>
              <a:t>  ],</a:t>
            </a:r>
          </a:p>
          <a:p>
            <a:r>
              <a:rPr lang="zh-CN" altLang="en-US" sz="1200" dirty="0"/>
              <a:t>  "allowed_data_domains": [</a:t>
            </a:r>
          </a:p>
          <a:p>
            <a:r>
              <a:rPr lang="zh-CN" altLang="en-US" sz="1200" dirty="0"/>
              <a:t>    "process",</a:t>
            </a:r>
          </a:p>
          <a:p>
            <a:r>
              <a:rPr lang="zh-CN" altLang="en-US" sz="1200" dirty="0"/>
              <a:t>    "file",</a:t>
            </a:r>
          </a:p>
          <a:p>
            <a:r>
              <a:rPr lang="zh-CN" altLang="en-US" sz="1200" dirty="0"/>
              <a:t>    "network",</a:t>
            </a:r>
          </a:p>
          <a:p>
            <a:r>
              <a:rPr lang="zh-CN" altLang="en-US" sz="1200" dirty="0"/>
              <a:t>    "persistence"</a:t>
            </a:r>
          </a:p>
          <a:p>
            <a:r>
              <a:rPr lang="zh-CN" altLang="en-US" sz="1200" dirty="0"/>
              <a:t>  ],</a:t>
            </a:r>
          </a:p>
          <a:p>
            <a:r>
              <a:rPr lang="zh-CN" altLang="en-US" sz="1200" dirty="0"/>
              <a:t>  "expansion_policy": "approval_required"</a:t>
            </a:r>
          </a:p>
          <a:p>
            <a:r>
              <a:rPr lang="zh-CN" altLang="en-US" sz="1200" dirty="0"/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9D9CBB-0F12-FF6D-CF4F-A85F7D6D6E60}"/>
              </a:ext>
            </a:extLst>
          </p:cNvPr>
          <p:cNvSpPr txBox="1"/>
          <p:nvPr/>
        </p:nvSpPr>
        <p:spPr>
          <a:xfrm>
            <a:off x="396876" y="3714509"/>
            <a:ext cx="35369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{</a:t>
            </a:r>
          </a:p>
          <a:p>
            <a:r>
              <a:rPr lang="zh-CN" altLang="en-US" sz="1200" dirty="0"/>
              <a:t>  "coverage_id": "coverage-network-001",</a:t>
            </a:r>
          </a:p>
          <a:p>
            <a:r>
              <a:rPr lang="zh-CN" altLang="en-US" sz="1200" dirty="0"/>
              <a:t>  "evidence_domain": "network",</a:t>
            </a:r>
          </a:p>
          <a:p>
            <a:r>
              <a:rPr lang="zh-CN" altLang="en-US" sz="1200" dirty="0"/>
              <a:t>  "host_id": "server-01",</a:t>
            </a:r>
          </a:p>
          <a:p>
            <a:r>
              <a:rPr lang="zh-CN" altLang="en-US" sz="1200" dirty="0"/>
              <a:t>  "requested_range": {</a:t>
            </a:r>
          </a:p>
          <a:p>
            <a:r>
              <a:rPr lang="zh-CN" altLang="en-US" sz="1200" dirty="0"/>
              <a:t>    "start": "...",</a:t>
            </a:r>
          </a:p>
          <a:p>
            <a:r>
              <a:rPr lang="zh-CN" altLang="en-US" sz="1200" dirty="0"/>
              <a:t>    "end": "..."</a:t>
            </a:r>
          </a:p>
          <a:p>
            <a:r>
              <a:rPr lang="zh-CN" altLang="en-US" sz="1200" dirty="0"/>
              <a:t>  },</a:t>
            </a:r>
          </a:p>
          <a:p>
            <a:r>
              <a:rPr lang="zh-CN" altLang="en-US" sz="1200" dirty="0"/>
              <a:t>  "available_range": {</a:t>
            </a:r>
          </a:p>
          <a:p>
            <a:r>
              <a:rPr lang="zh-CN" altLang="en-US" sz="1200" dirty="0"/>
              <a:t>    "start": "...",</a:t>
            </a:r>
          </a:p>
          <a:p>
            <a:r>
              <a:rPr lang="zh-CN" altLang="en-US" sz="1200" dirty="0"/>
              <a:t>    "end": "..."</a:t>
            </a:r>
          </a:p>
          <a:p>
            <a:r>
              <a:rPr lang="zh-CN" altLang="en-US" sz="1200" dirty="0"/>
              <a:t>  },</a:t>
            </a:r>
          </a:p>
          <a:p>
            <a:r>
              <a:rPr lang="zh-CN" altLang="en-US" sz="1200" dirty="0"/>
              <a:t>  "status": "partial",</a:t>
            </a:r>
          </a:p>
          <a:p>
            <a:r>
              <a:rPr lang="zh-CN" altLang="en-US" sz="1200" dirty="0"/>
              <a:t>  "limitations": [</a:t>
            </a:r>
          </a:p>
          <a:p>
            <a:r>
              <a:rPr lang="zh-CN" altLang="en-US" sz="1200" dirty="0"/>
              <a:t>    "03:00之前没有网络遥测"</a:t>
            </a:r>
          </a:p>
          <a:p>
            <a:r>
              <a:rPr lang="zh-CN" altLang="en-US" sz="1200" dirty="0"/>
              <a:t>  ]</a:t>
            </a:r>
          </a:p>
          <a:p>
            <a:r>
              <a:rPr lang="zh-CN" alt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1470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E3A3-B726-BB6E-298E-161CD69C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C512922-3453-0B64-4116-4512E1D1B888}"/>
              </a:ext>
            </a:extLst>
          </p:cNvPr>
          <p:cNvSpPr txBox="1"/>
          <p:nvPr/>
        </p:nvSpPr>
        <p:spPr>
          <a:xfrm>
            <a:off x="-31751" y="2974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+mn-ea"/>
              </a:rPr>
              <a:t>初始化 </a:t>
            </a:r>
            <a:r>
              <a:rPr lang="en-US" altLang="zh-CN" sz="1400" b="1" dirty="0" err="1">
                <a:latin typeface="+mn-ea"/>
              </a:rPr>
              <a:t>InvestigationState</a:t>
            </a:r>
            <a:endParaRPr lang="zh-CN" altLang="en-US" sz="1400" b="1" dirty="0">
              <a:latin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EEF0E42-7621-6CCA-1DA8-D220F2668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06" y="-29747"/>
            <a:ext cx="1495687" cy="685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96F845E-AEB9-FCEC-1D78-0B9AD41ED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837" y="0"/>
            <a:ext cx="1912327" cy="68580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90F6C3D-21C8-4AA5-F007-46952F139CD6}"/>
              </a:ext>
            </a:extLst>
          </p:cNvPr>
          <p:cNvSpPr txBox="1"/>
          <p:nvPr/>
        </p:nvSpPr>
        <p:spPr>
          <a:xfrm>
            <a:off x="3778249" y="2974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1" dirty="0"/>
              <a:t>Agent 第一轮决策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9046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8B04-A374-BAA7-F0C5-C2527B00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40C125F-BA59-F051-39CE-42B19871F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047" y="0"/>
            <a:ext cx="1775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0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DF7F-F5F6-FEF9-0ACB-C91053A4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B133B4D-4196-ECBC-211B-6764659EB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687658"/>
              </p:ext>
            </p:extLst>
          </p:nvPr>
        </p:nvGraphicFramePr>
        <p:xfrm>
          <a:off x="2714893" y="1234527"/>
          <a:ext cx="6762213" cy="4657234"/>
        </p:xfrm>
        <a:graphic>
          <a:graphicData uri="http://schemas.openxmlformats.org/drawingml/2006/table">
            <a:tbl>
              <a:tblPr/>
              <a:tblGrid>
                <a:gridCol w="2254071">
                  <a:extLst>
                    <a:ext uri="{9D8B030D-6E8A-4147-A177-3AD203B41FA5}">
                      <a16:colId xmlns:a16="http://schemas.microsoft.com/office/drawing/2014/main" val="3662132247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1785217682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3200310156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项目任务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架构中的实现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当前状态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26226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接收未知文件告警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案件输入层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06829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理解文件和资产上下文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InitialCasePackage、State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已覆盖，需细化Entity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318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调查文件来源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Evidence Tool + Analysis Tool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架构覆盖，Tool未具体冻结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74989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确认文件实际执行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Evidence Tool + Execution Analyzer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架构覆盖，需专用验证规则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26053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分析进程行为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进程Evidence Tool和Analyzer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7215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调查网络行为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网络Evidence Tool和C2 Analyzer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9129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调查持久化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持久化Evidence Tool和Analyzer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770377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调查数据窃取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敏感访问、暂存、外发Analyzer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已覆盖概念，需行为链规则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2669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调查勒索破坏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批量修改、备份破坏Analyzer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已覆盖概念，需影响证明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41758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主动补充证据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EvidenceGap + EvidenceRequest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24133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主动分析已有证据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AnalysisRequest + Analysis Tool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00399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扩展调查范围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ScopeRequest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26502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攻击路径还原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攻击路径层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38861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证据化结论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Verdict Validator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724352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数据不足时停止编造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Coverage、EvidenceGap、FAIL回路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基本覆盖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59619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输出案件报告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报告输出层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已覆盖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18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815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70FDF-894D-B4F1-DA56-CC932396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E0C1E5B-40AA-9715-26DF-342C0BA24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92341"/>
              </p:ext>
            </p:extLst>
          </p:nvPr>
        </p:nvGraphicFramePr>
        <p:xfrm>
          <a:off x="930236" y="395802"/>
          <a:ext cx="6762213" cy="6290205"/>
        </p:xfrm>
        <a:graphic>
          <a:graphicData uri="http://schemas.openxmlformats.org/drawingml/2006/table">
            <a:tbl>
              <a:tblPr/>
              <a:tblGrid>
                <a:gridCol w="2254071">
                  <a:extLst>
                    <a:ext uri="{9D8B030D-6E8A-4147-A177-3AD203B41FA5}">
                      <a16:colId xmlns:a16="http://schemas.microsoft.com/office/drawing/2014/main" val="3662132247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1785217682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3200310156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文件记录</a:t>
                      </a:r>
                      <a:r>
                        <a:rPr lang="en-US" altLang="zh-CN" sz="1200" dirty="0" err="1"/>
                        <a:t>uuid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26226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File_hash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SHA-256 hash(</a:t>
                      </a:r>
                      <a:r>
                        <a:rPr lang="zh-CN" altLang="en-US" sz="1200" dirty="0"/>
                        <a:t>小写</a:t>
                      </a:r>
                      <a:r>
                        <a:rPr lang="en-US" altLang="zh-CN" sz="1200" dirty="0"/>
                        <a:t>16</a:t>
                      </a:r>
                      <a:r>
                        <a:rPr lang="zh-CN" altLang="en-US" sz="1200" dirty="0"/>
                        <a:t>进制）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06829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source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网管</a:t>
                      </a:r>
                      <a:r>
                        <a:rPr lang="en-US" altLang="zh-CN" sz="1200" dirty="0"/>
                        <a:t>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318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Sub_asset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子资产</a:t>
                      </a:r>
                      <a:r>
                        <a:rPr lang="en-US" altLang="zh-CN" sz="1200" dirty="0"/>
                        <a:t>id</a:t>
                      </a:r>
                      <a:r>
                        <a:rPr lang="zh-CN" altLang="en-US" sz="1200" dirty="0"/>
                        <a:t>（</a:t>
                      </a:r>
                      <a:r>
                        <a:rPr lang="en-US" altLang="zh-CN" sz="1200" dirty="0" err="1"/>
                        <a:t>ip</a:t>
                      </a:r>
                      <a:r>
                        <a:rPr lang="zh-CN" altLang="en-US" sz="1200" dirty="0"/>
                        <a:t>或默认</a:t>
                      </a:r>
                      <a:r>
                        <a:rPr lang="en-US" altLang="zh-CN" sz="1200" dirty="0"/>
                        <a:t>default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74989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File_path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文件完整路径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260532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status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int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文件类型判定结果，输入时这里固定为</a:t>
                      </a: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表示未知文件，</a:t>
                      </a:r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恶意，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白文件，</a:t>
                      </a:r>
                      <a:r>
                        <a:rPr lang="en-US" altLang="zh-CN" sz="1200" dirty="0"/>
                        <a:t>2grey(</a:t>
                      </a:r>
                      <a:r>
                        <a:rPr lang="zh-CN" altLang="en-US" sz="1200" dirty="0"/>
                        <a:t>可信进程创建但</a:t>
                      </a:r>
                      <a:r>
                        <a:rPr lang="en-US" altLang="zh-CN" sz="1200" dirty="0"/>
                        <a:t>hash</a:t>
                      </a:r>
                      <a:r>
                        <a:rPr lang="zh-CN" altLang="en-US" sz="1200" dirty="0"/>
                        <a:t>不在库中），</a:t>
                      </a: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未知文件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7215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Sync_status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int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同步到管理服务器状态，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未同步，</a:t>
                      </a:r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同步失败，</a:t>
                      </a: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同步成功，</a:t>
                      </a: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待分析，</a:t>
                      </a:r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引擎已检测，</a:t>
                      </a:r>
                      <a:r>
                        <a:rPr lang="en-US" altLang="zh-CN" sz="1200" dirty="0"/>
                        <a:t>5</a:t>
                      </a:r>
                      <a:r>
                        <a:rPr lang="zh-CN" altLang="en-US" sz="1200" dirty="0"/>
                        <a:t>待回溯进程链；输入时这里字段为</a:t>
                      </a:r>
                      <a:r>
                        <a:rPr lang="en-US" altLang="zh-CN" sz="1200" dirty="0"/>
                        <a:t>2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9129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discovery_time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long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毫秒；文件被发现的时间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770377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Recent_time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long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毫秒；最近一次发现的时间（默认</a:t>
                      </a:r>
                      <a:r>
                        <a:rPr lang="en-US" altLang="zh-CN" sz="1200" dirty="0" err="1"/>
                        <a:t>System.currentTimeMillis</a:t>
                      </a:r>
                      <a:r>
                        <a:rPr lang="en-US" altLang="zh-CN" sz="1200" dirty="0"/>
                        <a:t>())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2669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File_create_time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Long</a:t>
                      </a:r>
                      <a:r>
                        <a:rPr lang="zh-CN" altLang="en-US" sz="1200" dirty="0"/>
                        <a:t>毫秒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文件创建时间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41758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File_modify_time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Long</a:t>
                      </a:r>
                      <a:r>
                        <a:rPr lang="zh-CN" altLang="en-US" sz="1200" dirty="0"/>
                        <a:t>毫秒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文件修改时间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24133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File_access_time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Long</a:t>
                      </a:r>
                      <a:r>
                        <a:rPr lang="zh-CN" altLang="en-US" sz="1200" dirty="0"/>
                        <a:t>毫秒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文件最后访问时间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00399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Process_create_time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Long</a:t>
                      </a:r>
                      <a:r>
                        <a:rPr lang="zh-CN" altLang="en-US" sz="1200" dirty="0"/>
                        <a:t>毫秒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进程创建时间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26502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Query_time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Long</a:t>
                      </a:r>
                      <a:r>
                        <a:rPr lang="zh-CN" altLang="en-US" sz="1200" dirty="0"/>
                        <a:t>毫秒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查询时间（默认</a:t>
                      </a:r>
                      <a:r>
                        <a:rPr lang="en-US" altLang="zh-CN" sz="1200" dirty="0" err="1"/>
                        <a:t>System.currentTimeMillis</a:t>
                      </a:r>
                      <a:r>
                        <a:rPr lang="en-US" altLang="zh-CN" sz="1200" dirty="0"/>
                        <a:t>())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38861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Create_time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Long</a:t>
                      </a:r>
                      <a:r>
                        <a:rPr lang="zh-CN" altLang="en-US" sz="1200" dirty="0"/>
                        <a:t>毫秒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文件入库的数据库服务器服务创建时间（</a:t>
                      </a:r>
                      <a:r>
                        <a:rPr lang="en-US" altLang="zh-CN" sz="1200" dirty="0" err="1"/>
                        <a:t>cde</a:t>
                      </a:r>
                      <a:r>
                        <a:rPr lang="zh-CN" altLang="en-US" sz="1200" dirty="0"/>
                        <a:t>引擎检测代码中最后文件上报入库）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724352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Update_time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Long</a:t>
                      </a:r>
                      <a:r>
                        <a:rPr lang="zh-CN" altLang="en-US" sz="1200" dirty="0"/>
                        <a:t>毫秒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文件最后更新的时间（</a:t>
                      </a:r>
                      <a:r>
                        <a:rPr lang="en-US" altLang="zh-CN" sz="1200" dirty="0" err="1"/>
                        <a:t>cde</a:t>
                      </a:r>
                      <a:r>
                        <a:rPr lang="zh-CN" altLang="en-US" sz="1200" dirty="0"/>
                        <a:t>引擎检测代码中最后文件上报入库）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59619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18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326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3CD9-173B-6AFB-1880-911735D0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9364E83-2F04-5783-EE6A-8BD4AB95E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663742"/>
              </p:ext>
            </p:extLst>
          </p:nvPr>
        </p:nvGraphicFramePr>
        <p:xfrm>
          <a:off x="1109892" y="395802"/>
          <a:ext cx="6582557" cy="6140940"/>
        </p:xfrm>
        <a:graphic>
          <a:graphicData uri="http://schemas.openxmlformats.org/drawingml/2006/table">
            <a:tbl>
              <a:tblPr/>
              <a:tblGrid>
                <a:gridCol w="2074415">
                  <a:extLst>
                    <a:ext uri="{9D8B030D-6E8A-4147-A177-3AD203B41FA5}">
                      <a16:colId xmlns:a16="http://schemas.microsoft.com/office/drawing/2014/main" val="3662132247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1785217682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3200310156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File_type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Cde</a:t>
                      </a:r>
                      <a:r>
                        <a:rPr lang="zh-CN" altLang="en-US" sz="1200" dirty="0"/>
                        <a:t>引擎识别的文件类型（这里为</a:t>
                      </a:r>
                      <a:r>
                        <a:rPr lang="en-US" altLang="zh-CN" sz="1200" dirty="0"/>
                        <a:t>elf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 err="1"/>
                        <a:t>php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 err="1"/>
                        <a:t>sh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 err="1"/>
                        <a:t>py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jar</a:t>
                      </a:r>
                      <a:r>
                        <a:rPr lang="zh-CN" altLang="en-US" sz="1200" dirty="0"/>
                        <a:t>这些）其实</a:t>
                      </a:r>
                      <a:r>
                        <a:rPr lang="en-US" altLang="zh-CN" sz="1200" dirty="0" err="1"/>
                        <a:t>cde</a:t>
                      </a:r>
                      <a:r>
                        <a:rPr lang="zh-CN" altLang="en-US" sz="1200" dirty="0"/>
                        <a:t>检测主要是业务相关的，业务库中的白名单中没有的文件都可能会被分到</a:t>
                      </a:r>
                      <a:r>
                        <a:rPr lang="en-US" altLang="zh-CN" sz="1200" dirty="0"/>
                        <a:t>unknown</a:t>
                      </a:r>
                      <a:r>
                        <a:rPr lang="zh-CN" altLang="en-US" sz="1200" dirty="0"/>
                        <a:t>，所以会有很多需要我们分析的</a:t>
                      </a:r>
                      <a:r>
                        <a:rPr lang="en-US" altLang="zh-CN" sz="1200" dirty="0"/>
                        <a:t>unknown</a:t>
                      </a:r>
                      <a:r>
                        <a:rPr lang="zh-CN" altLang="en-US" sz="1200" dirty="0"/>
                        <a:t>文件是误报，只是说它不满足</a:t>
                      </a:r>
                      <a:r>
                        <a:rPr lang="en-US" altLang="zh-CN" sz="1200" dirty="0" err="1"/>
                        <a:t>cde</a:t>
                      </a:r>
                      <a:r>
                        <a:rPr lang="zh-CN" altLang="en-US" sz="1200" dirty="0"/>
                        <a:t>引擎检测算法中的情况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26226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File_user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文件所有者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06829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File_uid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</a:t>
                      </a:r>
                      <a:r>
                        <a:rPr lang="en-US" altLang="zh-CN" sz="1200" dirty="0" err="1"/>
                        <a:t>uid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318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File_group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文件组</a:t>
                      </a:r>
                      <a:endParaRPr lang="en-US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74989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File_gid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</a:t>
                      </a:r>
                      <a:r>
                        <a:rPr lang="en-US" altLang="zh-CN" sz="1200" dirty="0"/>
                        <a:t>gid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260532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File_path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文件路径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7215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File_size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Byte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文件大小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9129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File_mode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文件权限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770377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Hofs_path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Hofs</a:t>
                      </a:r>
                      <a:r>
                        <a:rPr lang="zh-CN" altLang="en-US" sz="1200" dirty="0"/>
                        <a:t>安全存储路径，是指文件存在哪里，和当前任务无关</a:t>
                      </a:r>
                      <a:endParaRPr lang="en-US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2669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Task_id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扫描任务</a:t>
                      </a:r>
                      <a:r>
                        <a:rPr lang="en-US" altLang="zh-CN" sz="1200" dirty="0"/>
                        <a:t>id</a:t>
                      </a:r>
                      <a:r>
                        <a:rPr lang="zh-CN" altLang="en-US" sz="1200" dirty="0"/>
                        <a:t>，和当前任务无关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41758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Scan_type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int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扫描类型，和当前任务无关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24133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Pod_id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Kubernetes Pod 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00399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Container_id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Docker </a:t>
                      </a:r>
                      <a:r>
                        <a:rPr lang="zh-CN" altLang="en-US" sz="1200" dirty="0"/>
                        <a:t>容器</a:t>
                      </a:r>
                      <a:r>
                        <a:rPr lang="en-US" altLang="zh-CN" sz="1200" dirty="0"/>
                        <a:t>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26502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Container_name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容器名称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38861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Extend_field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String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扩展字段</a:t>
                      </a:r>
                      <a:r>
                        <a:rPr lang="en-US" altLang="zh-CN" sz="1200" dirty="0" err="1"/>
                        <a:t>json</a:t>
                      </a:r>
                      <a:r>
                        <a:rPr lang="zh-CN" altLang="en-US" sz="1200" dirty="0"/>
                        <a:t>，主要为</a:t>
                      </a:r>
                      <a:r>
                        <a:rPr lang="en-US" altLang="zh-CN" sz="1200" dirty="0" err="1"/>
                        <a:t>cpuid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724352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Detection_name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Integer</a:t>
                      </a:r>
                      <a:endParaRPr lang="zh-CN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检测模式，无关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59619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Realtime_type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interger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实时监控类型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18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323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1DC2-D630-49B6-CEF7-786EEA5C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60BF903-6227-2281-06CC-815110A33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835893"/>
              </p:ext>
            </p:extLst>
          </p:nvPr>
        </p:nvGraphicFramePr>
        <p:xfrm>
          <a:off x="930236" y="395802"/>
          <a:ext cx="6762213" cy="2149951"/>
        </p:xfrm>
        <a:graphic>
          <a:graphicData uri="http://schemas.openxmlformats.org/drawingml/2006/table">
            <a:tbl>
              <a:tblPr/>
              <a:tblGrid>
                <a:gridCol w="2254071">
                  <a:extLst>
                    <a:ext uri="{9D8B030D-6E8A-4147-A177-3AD203B41FA5}">
                      <a16:colId xmlns:a16="http://schemas.microsoft.com/office/drawing/2014/main" val="3662132247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1785217682"/>
                    </a:ext>
                  </a:extLst>
                </a:gridCol>
                <a:gridCol w="2254071">
                  <a:extLst>
                    <a:ext uri="{9D8B030D-6E8A-4147-A177-3AD203B41FA5}">
                      <a16:colId xmlns:a16="http://schemas.microsoft.com/office/drawing/2014/main" val="3200310156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Detail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进程链</a:t>
                      </a:r>
                      <a:r>
                        <a:rPr lang="en-US" altLang="zh-CN" sz="1200" dirty="0" err="1"/>
                        <a:t>json</a:t>
                      </a:r>
                      <a:r>
                        <a:rPr lang="zh-CN" altLang="en-US" sz="1200" dirty="0"/>
                        <a:t>字符串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26226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Original_id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原始事件</a:t>
                      </a:r>
                      <a:r>
                        <a:rPr lang="en-US" altLang="zh-CN" sz="1200" dirty="0"/>
                        <a:t>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06829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Is_hash_query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Bool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是否通过</a:t>
                      </a:r>
                      <a:r>
                        <a:rPr lang="en-US" altLang="zh-CN" sz="1200" dirty="0"/>
                        <a:t>hash</a:t>
                      </a:r>
                      <a:r>
                        <a:rPr lang="zh-CN" altLang="en-US" sz="1200" dirty="0"/>
                        <a:t>查询回填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318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Is_delete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Bool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软删除标记</a:t>
                      </a:r>
                      <a:endParaRPr lang="en-US" alt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74989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Delete_by_id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String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删除操作人</a:t>
                      </a:r>
                      <a:r>
                        <a:rPr lang="en-US" altLang="zh-CN" sz="1200" dirty="0"/>
                        <a:t>id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260532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Special_status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integer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特殊状态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7215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 err="1"/>
                        <a:t>Special_status_mask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Long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特殊状态掩码</a:t>
                      </a: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79129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2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77037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EE1D6BF-F5F4-7AEF-4DE7-136D5B8E267A}"/>
              </a:ext>
            </a:extLst>
          </p:cNvPr>
          <p:cNvSpPr txBox="1"/>
          <p:nvPr/>
        </p:nvSpPr>
        <p:spPr>
          <a:xfrm>
            <a:off x="2030598" y="2295459"/>
            <a:ext cx="55999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Detail</a:t>
            </a:r>
          </a:p>
          <a:p>
            <a:r>
              <a:rPr lang="en-US" altLang="zh-CN" dirty="0"/>
              <a:t>-</a:t>
            </a:r>
            <a:r>
              <a:rPr lang="en-US" altLang="zh-CN" dirty="0" err="1"/>
              <a:t>context:list</a:t>
            </a:r>
            <a:r>
              <a:rPr lang="en-US" altLang="zh-CN" dirty="0"/>
              <a:t>&lt;context&gt;  </a:t>
            </a:r>
            <a:r>
              <a:rPr lang="zh-CN" altLang="en-US" dirty="0"/>
              <a:t>进程链上下文列表</a:t>
            </a:r>
            <a:endParaRPr lang="en-US" altLang="zh-CN" dirty="0"/>
          </a:p>
          <a:p>
            <a:r>
              <a:rPr lang="en-US" altLang="zh-CN" dirty="0"/>
              <a:t>——context</a:t>
            </a:r>
            <a:r>
              <a:rPr lang="zh-CN" altLang="en-US" dirty="0"/>
              <a:t>单个进程上下文</a:t>
            </a:r>
            <a:endParaRPr lang="en-US" altLang="zh-CN" dirty="0"/>
          </a:p>
          <a:p>
            <a:r>
              <a:rPr lang="en-US" altLang="zh-CN" dirty="0"/>
              <a:t>——-</a:t>
            </a:r>
            <a:r>
              <a:rPr lang="en-US" altLang="zh-CN" dirty="0" err="1"/>
              <a:t>pid</a:t>
            </a:r>
            <a:r>
              <a:rPr lang="zh-CN" altLang="en-US" dirty="0"/>
              <a:t>：</a:t>
            </a:r>
            <a:r>
              <a:rPr lang="en-US" altLang="zh-CN" dirty="0"/>
              <a:t>string  </a:t>
            </a:r>
            <a:r>
              <a:rPr lang="zh-CN" altLang="en-US" dirty="0"/>
              <a:t>当前触发文件的进程</a:t>
            </a:r>
            <a:r>
              <a:rPr lang="en-US" altLang="zh-CN" dirty="0" err="1"/>
              <a:t>pid</a:t>
            </a:r>
            <a:endParaRPr lang="en-US" altLang="zh-CN" dirty="0"/>
          </a:p>
          <a:p>
            <a:r>
              <a:rPr lang="en-US" altLang="zh-CN" dirty="0"/>
              <a:t>——-path</a:t>
            </a:r>
            <a:r>
              <a:rPr lang="zh-CN" altLang="en-US" dirty="0"/>
              <a:t>：</a:t>
            </a:r>
            <a:r>
              <a:rPr lang="en-US" altLang="zh-CN" dirty="0"/>
              <a:t>string </a:t>
            </a:r>
            <a:r>
              <a:rPr lang="zh-CN" altLang="en-US" dirty="0"/>
              <a:t>触发文件的进程可执行文件路径</a:t>
            </a:r>
            <a:endParaRPr lang="en-US" altLang="zh-CN" dirty="0"/>
          </a:p>
          <a:p>
            <a:r>
              <a:rPr lang="en-US" altLang="zh-CN" dirty="0"/>
              <a:t>——-</a:t>
            </a:r>
            <a:r>
              <a:rPr lang="en-US" altLang="zh-CN" dirty="0" err="1"/>
              <a:t>euid</a:t>
            </a:r>
            <a:r>
              <a:rPr lang="zh-CN" altLang="en-US" dirty="0"/>
              <a:t>：</a:t>
            </a:r>
            <a:r>
              <a:rPr lang="en-US" altLang="zh-CN" dirty="0"/>
              <a:t>string </a:t>
            </a:r>
            <a:r>
              <a:rPr lang="zh-CN" altLang="en-US" dirty="0"/>
              <a:t>进程有效用户</a:t>
            </a:r>
            <a:r>
              <a:rPr lang="en-US" altLang="zh-CN" dirty="0"/>
              <a:t>id</a:t>
            </a:r>
          </a:p>
          <a:p>
            <a:r>
              <a:rPr lang="en-US" altLang="zh-CN" dirty="0"/>
              <a:t>——-</a:t>
            </a:r>
            <a:r>
              <a:rPr lang="en-US" altLang="zh-CN" dirty="0" err="1"/>
              <a:t>cmdline</a:t>
            </a:r>
            <a:r>
              <a:rPr lang="zh-CN" altLang="en-US" dirty="0"/>
              <a:t>：</a:t>
            </a:r>
            <a:r>
              <a:rPr lang="en-US" altLang="zh-CN" dirty="0"/>
              <a:t>string </a:t>
            </a:r>
            <a:r>
              <a:rPr lang="zh-CN" altLang="en-US" dirty="0"/>
              <a:t>进程命令行参数</a:t>
            </a:r>
            <a:endParaRPr lang="en-US" altLang="zh-CN" dirty="0"/>
          </a:p>
          <a:p>
            <a:r>
              <a:rPr lang="en-US" altLang="zh-CN" dirty="0"/>
              <a:t>——-tree</a:t>
            </a:r>
            <a:r>
              <a:rPr lang="zh-CN" altLang="en-US" dirty="0"/>
              <a:t>：</a:t>
            </a:r>
            <a:r>
              <a:rPr lang="en-US" altLang="zh-CN" dirty="0"/>
              <a:t>list&lt;tree&gt; </a:t>
            </a:r>
            <a:r>
              <a:rPr lang="zh-CN" altLang="en-US" dirty="0"/>
              <a:t>父进程链（从直接父进程到根）</a:t>
            </a:r>
            <a:endParaRPr lang="en-US" altLang="zh-CN" dirty="0"/>
          </a:p>
          <a:p>
            <a:r>
              <a:rPr lang="en-US" altLang="zh-CN" dirty="0"/>
              <a:t>——--</a:t>
            </a:r>
            <a:r>
              <a:rPr lang="en-US" altLang="zh-CN" dirty="0" err="1"/>
              <a:t>pid:string</a:t>
            </a:r>
            <a:r>
              <a:rPr lang="en-US" altLang="zh-CN" dirty="0"/>
              <a:t> </a:t>
            </a:r>
            <a:r>
              <a:rPr lang="zh-CN" altLang="en-US" dirty="0"/>
              <a:t>父进程</a:t>
            </a:r>
            <a:r>
              <a:rPr lang="en-US" altLang="zh-CN" dirty="0"/>
              <a:t>id</a:t>
            </a:r>
          </a:p>
          <a:p>
            <a:r>
              <a:rPr lang="en-US" altLang="zh-CN" dirty="0"/>
              <a:t>——--path</a:t>
            </a:r>
            <a:r>
              <a:rPr lang="zh-CN" altLang="en-US" dirty="0"/>
              <a:t>：</a:t>
            </a:r>
            <a:r>
              <a:rPr lang="en-US" altLang="zh-CN" dirty="0"/>
              <a:t>string </a:t>
            </a:r>
            <a:r>
              <a:rPr lang="zh-CN" altLang="en-US" dirty="0"/>
              <a:t>父进程可执行文件路径</a:t>
            </a:r>
            <a:endParaRPr lang="en-US" altLang="zh-CN" dirty="0"/>
          </a:p>
          <a:p>
            <a:r>
              <a:rPr lang="en-US" altLang="zh-CN" dirty="0"/>
              <a:t>——--</a:t>
            </a:r>
            <a:r>
              <a:rPr lang="en-US" altLang="zh-CN" dirty="0" err="1"/>
              <a:t>processname</a:t>
            </a:r>
            <a:r>
              <a:rPr lang="zh-CN" altLang="en-US" dirty="0"/>
              <a:t>：</a:t>
            </a:r>
            <a:r>
              <a:rPr lang="en-US" altLang="zh-CN" dirty="0"/>
              <a:t>string </a:t>
            </a:r>
            <a:r>
              <a:rPr lang="zh-CN" altLang="en-US" dirty="0"/>
              <a:t>父进程名</a:t>
            </a:r>
            <a:endParaRPr lang="en-US" altLang="zh-CN" dirty="0"/>
          </a:p>
          <a:p>
            <a:r>
              <a:rPr lang="en-US" altLang="zh-CN" dirty="0"/>
              <a:t>——--</a:t>
            </a:r>
            <a:r>
              <a:rPr lang="en-US" altLang="zh-CN" dirty="0" err="1"/>
              <a:t>cmdline</a:t>
            </a:r>
            <a:r>
              <a:rPr lang="zh-CN" altLang="en-US" dirty="0"/>
              <a:t>：</a:t>
            </a:r>
            <a:r>
              <a:rPr lang="en-US" altLang="zh-CN" dirty="0"/>
              <a:t>string</a:t>
            </a:r>
            <a:r>
              <a:rPr lang="zh-CN" altLang="en-US" dirty="0"/>
              <a:t>父进程命令行参数</a:t>
            </a:r>
            <a:endParaRPr lang="en-US" altLang="zh-CN" dirty="0"/>
          </a:p>
          <a:p>
            <a:r>
              <a:rPr lang="en-US" altLang="zh-CN" dirty="0"/>
              <a:t>——--</a:t>
            </a:r>
            <a:r>
              <a:rPr lang="en-US" altLang="zh-CN" dirty="0" err="1"/>
              <a:t>processuser</a:t>
            </a:r>
            <a:r>
              <a:rPr lang="zh-CN" altLang="en-US" dirty="0"/>
              <a:t>：</a:t>
            </a:r>
            <a:r>
              <a:rPr lang="en-US" altLang="zh-CN" dirty="0"/>
              <a:t>string</a:t>
            </a:r>
            <a:r>
              <a:rPr lang="zh-CN" altLang="en-US" dirty="0"/>
              <a:t>父进程运行用户</a:t>
            </a:r>
            <a:r>
              <a:rPr lang="en-US" altLang="zh-CN" dirty="0"/>
              <a:t>	</a:t>
            </a:r>
          </a:p>
          <a:p>
            <a:r>
              <a:rPr lang="en-US" altLang="zh-CN" dirty="0"/>
              <a:t>——--</a:t>
            </a:r>
            <a:r>
              <a:rPr lang="en-US" altLang="zh-CN" dirty="0" err="1"/>
              <a:t>processstarttime</a:t>
            </a:r>
            <a:r>
              <a:rPr lang="zh-CN" altLang="en-US" dirty="0"/>
              <a:t>：</a:t>
            </a:r>
            <a:r>
              <a:rPr lang="en-US" altLang="zh-CN" dirty="0"/>
              <a:t>long </a:t>
            </a:r>
            <a:r>
              <a:rPr lang="zh-CN" altLang="en-US" dirty="0"/>
              <a:t>父进程创建时间毫秒</a:t>
            </a:r>
            <a:endParaRPr lang="en-US" altLang="zh-CN" dirty="0"/>
          </a:p>
          <a:p>
            <a:r>
              <a:rPr lang="en-US" altLang="zh-CN" dirty="0"/>
              <a:t>——-</a:t>
            </a:r>
            <a:r>
              <a:rPr lang="en-US" altLang="zh-CN" dirty="0" err="1"/>
              <a:t>processstarttime</a:t>
            </a:r>
            <a:r>
              <a:rPr lang="zh-CN" altLang="en-US" dirty="0"/>
              <a:t>：当前进程创建时间</a:t>
            </a:r>
            <a:endParaRPr lang="en-US" altLang="zh-CN" dirty="0"/>
          </a:p>
          <a:p>
            <a:r>
              <a:rPr lang="en-US" altLang="zh-CN" dirty="0"/>
              <a:t>-feature</a:t>
            </a:r>
            <a:r>
              <a:rPr lang="zh-CN" altLang="en-US" dirty="0"/>
              <a:t>：</a:t>
            </a:r>
            <a:r>
              <a:rPr lang="en-US" altLang="zh-CN" dirty="0"/>
              <a:t>feature</a:t>
            </a:r>
            <a:r>
              <a:rPr lang="zh-CN" altLang="en-US" dirty="0"/>
              <a:t>文件特征信息</a:t>
            </a:r>
            <a:endParaRPr lang="en-US" altLang="zh-CN" dirty="0"/>
          </a:p>
          <a:p>
            <a:r>
              <a:rPr lang="en-US" altLang="zh-CN" dirty="0"/>
              <a:t>——hash</a:t>
            </a:r>
            <a:r>
              <a:rPr lang="zh-CN" altLang="en-US" dirty="0"/>
              <a:t>：</a:t>
            </a:r>
            <a:r>
              <a:rPr lang="en-US" altLang="zh-CN" dirty="0"/>
              <a:t>string</a:t>
            </a:r>
            <a:r>
              <a:rPr lang="zh-CN" altLang="en-US" dirty="0"/>
              <a:t>文件</a:t>
            </a:r>
            <a:r>
              <a:rPr lang="en-US" altLang="zh-CN" dirty="0"/>
              <a:t>hash</a:t>
            </a:r>
          </a:p>
          <a:p>
            <a:endParaRPr lang="en-US" altLang="zh-CN" dirty="0"/>
          </a:p>
          <a:p>
            <a:r>
              <a:rPr lang="en-US" altLang="zh-CN" dirty="0"/>
              <a:t>Tree</a:t>
            </a:r>
            <a:r>
              <a:rPr lang="zh-CN" altLang="en-US" dirty="0"/>
              <a:t>数组顺序：从近到远，（从直接父进程到根）</a:t>
            </a:r>
            <a:endParaRPr lang="en-US" altLang="zh-CN" dirty="0"/>
          </a:p>
          <a:p>
            <a:r>
              <a:rPr lang="en-US" altLang="zh-CN" dirty="0"/>
              <a:t>Context</a:t>
            </a:r>
            <a:r>
              <a:rPr lang="zh-CN" altLang="en-US" dirty="0"/>
              <a:t>数组顺序：按</a:t>
            </a:r>
            <a:r>
              <a:rPr lang="en-US" altLang="zh-CN" dirty="0" err="1"/>
              <a:t>pid</a:t>
            </a:r>
            <a:r>
              <a:rPr lang="zh-CN" altLang="en-US" dirty="0"/>
              <a:t>排序，最近的在前</a:t>
            </a:r>
          </a:p>
        </p:txBody>
      </p:sp>
    </p:spTree>
    <p:extLst>
      <p:ext uri="{BB962C8B-B14F-4D97-AF65-F5344CB8AC3E}">
        <p14:creationId xmlns:p14="http://schemas.microsoft.com/office/powerpoint/2010/main" val="3216891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7211</TotalTime>
  <Words>4640</Words>
  <Application>Microsoft Office PowerPoint</Application>
  <PresentationFormat>宽屏</PresentationFormat>
  <Paragraphs>438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昊楠 温</dc:creator>
  <cp:lastModifiedBy>昊楠 温</cp:lastModifiedBy>
  <cp:revision>57</cp:revision>
  <dcterms:created xsi:type="dcterms:W3CDTF">2026-07-29T01:22:51Z</dcterms:created>
  <dcterms:modified xsi:type="dcterms:W3CDTF">2026-08-03T01:34:14Z</dcterms:modified>
</cp:coreProperties>
</file>